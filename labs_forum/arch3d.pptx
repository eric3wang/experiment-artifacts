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4400" y="741600"/>
            <a:ext cx="684000" cy="413999"/>
          </a:xfrm>
          <a:prstGeom prst="roundRect">
            <a:avLst>
              <a:gd name="adj" fmla="val 4347"/>
            </a:avLst>
          </a:prstGeom>
          <a:solidFill>
            <a:srgbClr val="EEF0F3"/>
          </a:solidFill>
          <a:ln w="9525">
            <a:solidFill>
              <a:srgbClr val="C5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3200" y="802800"/>
            <a:ext cx="684000" cy="413999"/>
          </a:xfrm>
          <a:prstGeom prst="roundRect">
            <a:avLst>
              <a:gd name="adj" fmla="val 4347"/>
            </a:avLst>
          </a:prstGeom>
          <a:solidFill>
            <a:srgbClr val="EEF0F3"/>
          </a:solidFill>
          <a:ln w="9525">
            <a:solidFill>
              <a:srgbClr val="C5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2000" y="864000"/>
            <a:ext cx="684000" cy="413999"/>
          </a:xfrm>
          <a:prstGeom prst="roundRect">
            <a:avLst>
              <a:gd name="adj" fmla="val 4347"/>
            </a:avLst>
          </a:prstGeom>
          <a:solidFill>
            <a:srgbClr val="EEF0F3"/>
          </a:solidFill>
          <a:ln w="9525">
            <a:solidFill>
              <a:srgbClr val="C5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386000" y="1053000"/>
            <a:ext cx="324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728000" y="737999"/>
            <a:ext cx="1475999" cy="630000"/>
          </a:xfrm>
          <a:prstGeom prst="roundRect">
            <a:avLst>
              <a:gd name="adj" fmla="val 14285"/>
            </a:avLst>
          </a:prstGeom>
          <a:solidFill>
            <a:srgbClr val="E3F2F1"/>
          </a:solidFill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700" b="1" i="0">
                <a:solidFill>
                  <a:srgbClr val="3F949C"/>
                </a:solidFill>
                <a:latin typeface="Work Sans"/>
              </a:rPr>
              <a:t>LaGeOM</a:t>
            </a:r>
          </a:p>
          <a:p>
            <a:pPr algn="ctr"/>
            <a:r>
              <a:rPr sz="1000" b="0" i="1">
                <a:solidFill>
                  <a:srgbClr val="6B7385"/>
                </a:solidFill>
                <a:latin typeface="Work Sans"/>
              </a:rPr>
              <a:t>frozen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4000" y="1053000"/>
            <a:ext cx="324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Left Bracket 7"/>
          <p:cNvSpPr/>
          <p:nvPr/>
        </p:nvSpPr>
        <p:spPr>
          <a:xfrm>
            <a:off x="3581999" y="630000"/>
            <a:ext cx="108000" cy="827999"/>
          </a:xfrm>
          <a:prstGeom prst="leftBracket">
            <a:avLst/>
          </a:prstGeom>
          <a:noFill/>
          <a:ln w="19050">
            <a:solidFill>
              <a:srgbClr val="1F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" name="Group 8"/>
          <p:cNvGrpSpPr/>
          <p:nvPr/>
        </p:nvGrpSpPr>
        <p:grpSpPr>
          <a:xfrm>
            <a:off x="3884399" y="813600"/>
            <a:ext cx="828001" cy="468000"/>
            <a:chOff x="3884399" y="813600"/>
            <a:chExt cx="828001" cy="468000"/>
          </a:xfrm>
        </p:grpSpPr>
        <p:sp>
          <p:nvSpPr>
            <p:cNvPr id="10" name="Rectangle 9"/>
            <p:cNvSpPr/>
            <p:nvPr/>
          </p:nvSpPr>
          <p:spPr>
            <a:xfrm>
              <a:off x="3884399" y="813600"/>
              <a:ext cx="827999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4050000" y="813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4215600" y="813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4381199" y="813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4546800" y="813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3884399" y="969600"/>
              <a:ext cx="828001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3884399" y="1125600"/>
              <a:ext cx="828001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3823199" y="874800"/>
            <a:ext cx="828000" cy="468000"/>
            <a:chOff x="3823199" y="874800"/>
            <a:chExt cx="828000" cy="468000"/>
          </a:xfrm>
        </p:grpSpPr>
        <p:sp>
          <p:nvSpPr>
            <p:cNvPr id="18" name="Rectangle 17"/>
            <p:cNvSpPr/>
            <p:nvPr/>
          </p:nvSpPr>
          <p:spPr>
            <a:xfrm>
              <a:off x="3823199" y="874800"/>
              <a:ext cx="827999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3988799" y="874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4154399" y="874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4320000" y="874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4485600" y="874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3823199" y="1030800"/>
              <a:ext cx="828000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3823199" y="1186800"/>
              <a:ext cx="828000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3761999" y="936000"/>
            <a:ext cx="828001" cy="468000"/>
            <a:chOff x="3761999" y="936000"/>
            <a:chExt cx="828001" cy="468000"/>
          </a:xfrm>
        </p:grpSpPr>
        <p:sp>
          <p:nvSpPr>
            <p:cNvPr id="26" name="Rectangle 25"/>
            <p:cNvSpPr/>
            <p:nvPr/>
          </p:nvSpPr>
          <p:spPr>
            <a:xfrm>
              <a:off x="3761999" y="936000"/>
              <a:ext cx="827999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Connector 26"/>
            <p:cNvCxnSpPr/>
            <p:nvPr/>
          </p:nvCxnSpPr>
          <p:spPr>
            <a:xfrm>
              <a:off x="3927600" y="936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4093199" y="936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>
              <a:off x="4258799" y="936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4424400" y="936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3761999" y="1092000"/>
              <a:ext cx="828001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>
              <a:off x="3761999" y="1248000"/>
              <a:ext cx="828001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/>
          <p:cNvSpPr txBox="1"/>
          <p:nvPr/>
        </p:nvSpPr>
        <p:spPr>
          <a:xfrm>
            <a:off x="4770000" y="1062000"/>
            <a:ext cx="144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2433"/>
                </a:solidFill>
                <a:latin typeface="Work Sans"/>
              </a:rPr>
              <a:t>,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4986000" y="810000"/>
            <a:ext cx="827999" cy="468000"/>
            <a:chOff x="4986000" y="810000"/>
            <a:chExt cx="827999" cy="468000"/>
          </a:xfrm>
        </p:grpSpPr>
        <p:sp>
          <p:nvSpPr>
            <p:cNvPr id="35" name="Rectangle 34"/>
            <p:cNvSpPr/>
            <p:nvPr/>
          </p:nvSpPr>
          <p:spPr>
            <a:xfrm>
              <a:off x="4986000" y="810000"/>
              <a:ext cx="827999" cy="468000"/>
            </a:xfrm>
            <a:prstGeom prst="rect">
              <a:avLst/>
            </a:prstGeom>
            <a:solidFill>
              <a:srgbClr val="E3F2F1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Connector 35"/>
            <p:cNvCxnSpPr/>
            <p:nvPr/>
          </p:nvCxnSpPr>
          <p:spPr>
            <a:xfrm>
              <a:off x="5151600" y="810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 36"/>
            <p:cNvCxnSpPr/>
            <p:nvPr/>
          </p:nvCxnSpPr>
          <p:spPr>
            <a:xfrm>
              <a:off x="5317200" y="810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 37"/>
            <p:cNvCxnSpPr/>
            <p:nvPr/>
          </p:nvCxnSpPr>
          <p:spPr>
            <a:xfrm>
              <a:off x="5482800" y="810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 38"/>
            <p:cNvCxnSpPr/>
            <p:nvPr/>
          </p:nvCxnSpPr>
          <p:spPr>
            <a:xfrm>
              <a:off x="5648400" y="810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39"/>
            <p:cNvCxnSpPr/>
            <p:nvPr/>
          </p:nvCxnSpPr>
          <p:spPr>
            <a:xfrm>
              <a:off x="4986000" y="966000"/>
              <a:ext cx="827999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40"/>
            <p:cNvCxnSpPr/>
            <p:nvPr/>
          </p:nvCxnSpPr>
          <p:spPr>
            <a:xfrm>
              <a:off x="4986000" y="1122000"/>
              <a:ext cx="827999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ight Bracket 41"/>
          <p:cNvSpPr/>
          <p:nvPr/>
        </p:nvSpPr>
        <p:spPr>
          <a:xfrm>
            <a:off x="5886000" y="630000"/>
            <a:ext cx="108000" cy="827999"/>
          </a:xfrm>
          <a:prstGeom prst="rightBracket">
            <a:avLst/>
          </a:prstGeom>
          <a:noFill/>
          <a:ln w="19050">
            <a:solidFill>
              <a:srgbClr val="1F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5993999" y="1044000"/>
            <a:ext cx="252001" cy="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246000" y="1044000"/>
            <a:ext cx="0" cy="55800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630000" y="1602000"/>
            <a:ext cx="5616000" cy="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30000" y="1602000"/>
            <a:ext cx="0" cy="91800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30000" y="2520000"/>
            <a:ext cx="162000" cy="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360000" y="1782000"/>
            <a:ext cx="8424000" cy="1422000"/>
          </a:xfrm>
          <a:prstGeom prst="roundRect">
            <a:avLst>
              <a:gd name="adj" fmla="val 15189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4000" y="1818000"/>
            <a:ext cx="2880000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F949C"/>
                </a:solidFill>
                <a:latin typeface="Work Sans"/>
              </a:rPr>
              <a:t>3D Tracking Head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932400" y="2224800"/>
            <a:ext cx="792000" cy="468000"/>
            <a:chOff x="932400" y="2224800"/>
            <a:chExt cx="792000" cy="468000"/>
          </a:xfrm>
        </p:grpSpPr>
        <p:sp>
          <p:nvSpPr>
            <p:cNvPr id="51" name="Rectangle 50"/>
            <p:cNvSpPr/>
            <p:nvPr/>
          </p:nvSpPr>
          <p:spPr>
            <a:xfrm>
              <a:off x="932400" y="22248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9AA1A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2" name="Connector 51"/>
            <p:cNvCxnSpPr/>
            <p:nvPr/>
          </p:nvCxnSpPr>
          <p:spPr>
            <a:xfrm>
              <a:off x="1090800" y="22248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or 52"/>
            <p:cNvCxnSpPr/>
            <p:nvPr/>
          </p:nvCxnSpPr>
          <p:spPr>
            <a:xfrm>
              <a:off x="1249200" y="22248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ctor 53"/>
            <p:cNvCxnSpPr/>
            <p:nvPr/>
          </p:nvCxnSpPr>
          <p:spPr>
            <a:xfrm>
              <a:off x="1407600" y="22248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or 54"/>
            <p:cNvCxnSpPr/>
            <p:nvPr/>
          </p:nvCxnSpPr>
          <p:spPr>
            <a:xfrm>
              <a:off x="1565999" y="22248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or 55"/>
            <p:cNvCxnSpPr/>
            <p:nvPr/>
          </p:nvCxnSpPr>
          <p:spPr>
            <a:xfrm>
              <a:off x="932400" y="23808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or 56"/>
            <p:cNvCxnSpPr/>
            <p:nvPr/>
          </p:nvCxnSpPr>
          <p:spPr>
            <a:xfrm>
              <a:off x="932400" y="25368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/>
          <p:cNvGrpSpPr/>
          <p:nvPr/>
        </p:nvGrpSpPr>
        <p:grpSpPr>
          <a:xfrm>
            <a:off x="871200" y="2286000"/>
            <a:ext cx="792000" cy="468000"/>
            <a:chOff x="871200" y="2286000"/>
            <a:chExt cx="792000" cy="468000"/>
          </a:xfrm>
        </p:grpSpPr>
        <p:sp>
          <p:nvSpPr>
            <p:cNvPr id="59" name="Rectangle 58"/>
            <p:cNvSpPr/>
            <p:nvPr/>
          </p:nvSpPr>
          <p:spPr>
            <a:xfrm>
              <a:off x="871200" y="22860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9AA1A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0" name="Connector 59"/>
            <p:cNvCxnSpPr/>
            <p:nvPr/>
          </p:nvCxnSpPr>
          <p:spPr>
            <a:xfrm>
              <a:off x="1029600" y="22860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 60"/>
            <p:cNvCxnSpPr/>
            <p:nvPr/>
          </p:nvCxnSpPr>
          <p:spPr>
            <a:xfrm>
              <a:off x="1188000" y="22860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 61"/>
            <p:cNvCxnSpPr/>
            <p:nvPr/>
          </p:nvCxnSpPr>
          <p:spPr>
            <a:xfrm>
              <a:off x="1346400" y="22860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 62"/>
            <p:cNvCxnSpPr/>
            <p:nvPr/>
          </p:nvCxnSpPr>
          <p:spPr>
            <a:xfrm>
              <a:off x="1504800" y="22860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ctor 63"/>
            <p:cNvCxnSpPr/>
            <p:nvPr/>
          </p:nvCxnSpPr>
          <p:spPr>
            <a:xfrm>
              <a:off x="871200" y="24420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ctor 64"/>
            <p:cNvCxnSpPr/>
            <p:nvPr/>
          </p:nvCxnSpPr>
          <p:spPr>
            <a:xfrm>
              <a:off x="871200" y="25980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/>
          <p:cNvGrpSpPr/>
          <p:nvPr/>
        </p:nvGrpSpPr>
        <p:grpSpPr>
          <a:xfrm>
            <a:off x="810000" y="2347200"/>
            <a:ext cx="792000" cy="468000"/>
            <a:chOff x="810000" y="2347200"/>
            <a:chExt cx="792000" cy="468000"/>
          </a:xfrm>
        </p:grpSpPr>
        <p:sp>
          <p:nvSpPr>
            <p:cNvPr id="67" name="Rectangle 66"/>
            <p:cNvSpPr/>
            <p:nvPr/>
          </p:nvSpPr>
          <p:spPr>
            <a:xfrm>
              <a:off x="810000" y="23472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9AA1A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8" name="Connector 67"/>
            <p:cNvCxnSpPr/>
            <p:nvPr/>
          </p:nvCxnSpPr>
          <p:spPr>
            <a:xfrm>
              <a:off x="968400" y="23472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ctor 68"/>
            <p:cNvCxnSpPr/>
            <p:nvPr/>
          </p:nvCxnSpPr>
          <p:spPr>
            <a:xfrm>
              <a:off x="1126800" y="23472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ctor 69"/>
            <p:cNvCxnSpPr/>
            <p:nvPr/>
          </p:nvCxnSpPr>
          <p:spPr>
            <a:xfrm>
              <a:off x="1285200" y="23472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ctor 70"/>
            <p:cNvCxnSpPr/>
            <p:nvPr/>
          </p:nvCxnSpPr>
          <p:spPr>
            <a:xfrm>
              <a:off x="1443600" y="23472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or 71"/>
            <p:cNvCxnSpPr/>
            <p:nvPr/>
          </p:nvCxnSpPr>
          <p:spPr>
            <a:xfrm>
              <a:off x="810000" y="25032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ctor 72"/>
            <p:cNvCxnSpPr/>
            <p:nvPr/>
          </p:nvCxnSpPr>
          <p:spPr>
            <a:xfrm>
              <a:off x="810000" y="26592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4" name="Connector 73"/>
          <p:cNvCxnSpPr/>
          <p:nvPr/>
        </p:nvCxnSpPr>
        <p:spPr>
          <a:xfrm>
            <a:off x="1782000" y="2520000"/>
            <a:ext cx="288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2088000" y="2070000"/>
            <a:ext cx="720000" cy="1044000"/>
          </a:xfrm>
          <a:prstGeom prst="roundRect">
            <a:avLst>
              <a:gd name="adj" fmla="val 2500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400" b="0" i="0">
                <a:solidFill>
                  <a:srgbClr val="1F2433"/>
                </a:solidFill>
                <a:latin typeface="Work Sans"/>
              </a:rPr>
              <a:t>SA</a:t>
            </a:r>
          </a:p>
          <a:p>
            <a:pPr algn="ctr"/>
            <a:r>
              <a:rPr sz="1400" b="0" i="0">
                <a:solidFill>
                  <a:srgbClr val="1F2433"/>
                </a:solidFill>
                <a:latin typeface="Work Sans"/>
              </a:rPr>
              <a:t>Block</a:t>
            </a:r>
          </a:p>
          <a:p>
            <a:pPr algn="ctr"/>
            <a:r>
              <a:rPr sz="1400" b="0" i="0">
                <a:solidFill>
                  <a:srgbClr val="1F2433"/>
                </a:solidFill>
                <a:latin typeface="Work Sans"/>
              </a:rPr>
              <a:t>×24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2808000" y="2520000"/>
            <a:ext cx="288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7" name="Group 76"/>
          <p:cNvGrpSpPr/>
          <p:nvPr/>
        </p:nvGrpSpPr>
        <p:grpSpPr>
          <a:xfrm>
            <a:off x="3236400" y="2224800"/>
            <a:ext cx="792000" cy="468000"/>
            <a:chOff x="3236400" y="2224800"/>
            <a:chExt cx="792000" cy="468000"/>
          </a:xfrm>
        </p:grpSpPr>
        <p:sp>
          <p:nvSpPr>
            <p:cNvPr id="78" name="Rectangle 77"/>
            <p:cNvSpPr/>
            <p:nvPr/>
          </p:nvSpPr>
          <p:spPr>
            <a:xfrm>
              <a:off x="3236400" y="22248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5412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9" name="Connector 78"/>
            <p:cNvCxnSpPr/>
            <p:nvPr/>
          </p:nvCxnSpPr>
          <p:spPr>
            <a:xfrm>
              <a:off x="3394800" y="22248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or 79"/>
            <p:cNvCxnSpPr/>
            <p:nvPr/>
          </p:nvCxnSpPr>
          <p:spPr>
            <a:xfrm>
              <a:off x="3553200" y="22248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ctor 80"/>
            <p:cNvCxnSpPr/>
            <p:nvPr/>
          </p:nvCxnSpPr>
          <p:spPr>
            <a:xfrm>
              <a:off x="3711600" y="22248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or 81"/>
            <p:cNvCxnSpPr/>
            <p:nvPr/>
          </p:nvCxnSpPr>
          <p:spPr>
            <a:xfrm>
              <a:off x="3870000" y="22248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ctor 82"/>
            <p:cNvCxnSpPr/>
            <p:nvPr/>
          </p:nvCxnSpPr>
          <p:spPr>
            <a:xfrm>
              <a:off x="3236400" y="23808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or 83"/>
            <p:cNvCxnSpPr/>
            <p:nvPr/>
          </p:nvCxnSpPr>
          <p:spPr>
            <a:xfrm>
              <a:off x="3236400" y="25368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/>
          <p:cNvGrpSpPr/>
          <p:nvPr/>
        </p:nvGrpSpPr>
        <p:grpSpPr>
          <a:xfrm>
            <a:off x="3175200" y="2286000"/>
            <a:ext cx="792000" cy="468000"/>
            <a:chOff x="3175200" y="2286000"/>
            <a:chExt cx="792000" cy="468000"/>
          </a:xfrm>
        </p:grpSpPr>
        <p:sp>
          <p:nvSpPr>
            <p:cNvPr id="86" name="Rectangle 85"/>
            <p:cNvSpPr/>
            <p:nvPr/>
          </p:nvSpPr>
          <p:spPr>
            <a:xfrm>
              <a:off x="3175200" y="22860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5412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7" name="Connector 86"/>
            <p:cNvCxnSpPr/>
            <p:nvPr/>
          </p:nvCxnSpPr>
          <p:spPr>
            <a:xfrm>
              <a:off x="3333600" y="22860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or 87"/>
            <p:cNvCxnSpPr/>
            <p:nvPr/>
          </p:nvCxnSpPr>
          <p:spPr>
            <a:xfrm>
              <a:off x="3492000" y="22860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or 88"/>
            <p:cNvCxnSpPr/>
            <p:nvPr/>
          </p:nvCxnSpPr>
          <p:spPr>
            <a:xfrm>
              <a:off x="3650400" y="22860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ctor 89"/>
            <p:cNvCxnSpPr/>
            <p:nvPr/>
          </p:nvCxnSpPr>
          <p:spPr>
            <a:xfrm>
              <a:off x="3808800" y="22860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ctor 90"/>
            <p:cNvCxnSpPr/>
            <p:nvPr/>
          </p:nvCxnSpPr>
          <p:spPr>
            <a:xfrm>
              <a:off x="3175200" y="24420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ctor 91"/>
            <p:cNvCxnSpPr/>
            <p:nvPr/>
          </p:nvCxnSpPr>
          <p:spPr>
            <a:xfrm>
              <a:off x="3175200" y="25980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oup 92"/>
          <p:cNvGrpSpPr/>
          <p:nvPr/>
        </p:nvGrpSpPr>
        <p:grpSpPr>
          <a:xfrm>
            <a:off x="3114000" y="2347200"/>
            <a:ext cx="792000" cy="468000"/>
            <a:chOff x="3114000" y="2347200"/>
            <a:chExt cx="792000" cy="468000"/>
          </a:xfrm>
        </p:grpSpPr>
        <p:sp>
          <p:nvSpPr>
            <p:cNvPr id="94" name="Rectangle 93"/>
            <p:cNvSpPr/>
            <p:nvPr/>
          </p:nvSpPr>
          <p:spPr>
            <a:xfrm>
              <a:off x="3114000" y="23472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5412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5" name="Connector 94"/>
            <p:cNvCxnSpPr/>
            <p:nvPr/>
          </p:nvCxnSpPr>
          <p:spPr>
            <a:xfrm>
              <a:off x="3272400" y="23472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ctor 95"/>
            <p:cNvCxnSpPr/>
            <p:nvPr/>
          </p:nvCxnSpPr>
          <p:spPr>
            <a:xfrm>
              <a:off x="3430800" y="23472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ctor 96"/>
            <p:cNvCxnSpPr/>
            <p:nvPr/>
          </p:nvCxnSpPr>
          <p:spPr>
            <a:xfrm>
              <a:off x="3589200" y="23472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ctor 97"/>
            <p:cNvCxnSpPr/>
            <p:nvPr/>
          </p:nvCxnSpPr>
          <p:spPr>
            <a:xfrm>
              <a:off x="3747600" y="23472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ctor 98"/>
            <p:cNvCxnSpPr/>
            <p:nvPr/>
          </p:nvCxnSpPr>
          <p:spPr>
            <a:xfrm>
              <a:off x="3114000" y="25032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ctor 99"/>
            <p:cNvCxnSpPr/>
            <p:nvPr/>
          </p:nvCxnSpPr>
          <p:spPr>
            <a:xfrm>
              <a:off x="3114000" y="26592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1" name="Connector 100"/>
          <p:cNvCxnSpPr/>
          <p:nvPr/>
        </p:nvCxnSpPr>
        <p:spPr>
          <a:xfrm>
            <a:off x="4086000" y="2520000"/>
            <a:ext cx="288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101"/>
          <p:cNvSpPr/>
          <p:nvPr/>
        </p:nvSpPr>
        <p:spPr>
          <a:xfrm>
            <a:off x="4392000" y="2214000"/>
            <a:ext cx="1584000" cy="612000"/>
          </a:xfrm>
          <a:prstGeom prst="roundRect">
            <a:avLst>
              <a:gd name="adj" fmla="val 2941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400" b="0" i="0">
                <a:solidFill>
                  <a:srgbClr val="1F2433"/>
                </a:solidFill>
                <a:latin typeface="Work Sans"/>
              </a:rPr>
              <a:t>Cross-Attention</a:t>
            </a:r>
          </a:p>
          <a:p>
            <a:pPr algn="ctr"/>
            <a:r>
              <a:rPr sz="1400" b="0" i="0">
                <a:solidFill>
                  <a:srgbClr val="1F2433"/>
                </a:solidFill>
                <a:latin typeface="Work Sans"/>
              </a:rPr>
              <a:t>Decoder ×8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031999" y="1854000"/>
            <a:ext cx="2304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1F2433"/>
                </a:solidFill>
                <a:latin typeface="Work Sans"/>
              </a:rPr>
              <a:t>query  (u, v, t_src, t_tgt, t_cam)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5184000" y="2070000"/>
            <a:ext cx="0" cy="1368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5976000" y="2520000"/>
            <a:ext cx="612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6660000" y="2358000"/>
            <a:ext cx="2088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1F2433"/>
                </a:solidFill>
                <a:latin typeface="Work Sans"/>
              </a:rPr>
              <a:t>(X, Y, Z, vis)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