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20400" y="759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59200" y="820799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8000" y="881999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962000" y="1070999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04000" y="755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80000" y="1070999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4157999" y="648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4460400" y="831600"/>
            <a:ext cx="827999" cy="468000"/>
            <a:chOff x="4460400" y="831600"/>
            <a:chExt cx="827999" cy="468000"/>
          </a:xfrm>
        </p:grpSpPr>
        <p:sp>
          <p:nvSpPr>
            <p:cNvPr id="10" name="Rectangle 9"/>
            <p:cNvSpPr/>
            <p:nvPr/>
          </p:nvSpPr>
          <p:spPr>
            <a:xfrm>
              <a:off x="4460400" y="831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625999" y="831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91600" y="831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957200" y="831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5122799" y="831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4460400" y="9876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4460400" y="11436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4399200" y="892800"/>
            <a:ext cx="828000" cy="468000"/>
            <a:chOff x="4399200" y="892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4399200" y="892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4564800" y="892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730400" y="892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895999" y="892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061600" y="892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399200" y="1048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4399200" y="1204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4338000" y="954000"/>
            <a:ext cx="827999" cy="468000"/>
            <a:chOff x="4338000" y="954000"/>
            <a:chExt cx="827999" cy="468000"/>
          </a:xfrm>
        </p:grpSpPr>
        <p:sp>
          <p:nvSpPr>
            <p:cNvPr id="26" name="Rectangle 25"/>
            <p:cNvSpPr/>
            <p:nvPr/>
          </p:nvSpPr>
          <p:spPr>
            <a:xfrm>
              <a:off x="4338000" y="954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4503599" y="95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669200" y="95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834800" y="95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5000400" y="954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338000" y="1110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4338000" y="12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5346000" y="1080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562000" y="827999"/>
            <a:ext cx="828000" cy="468000"/>
            <a:chOff x="5562000" y="827999"/>
            <a:chExt cx="828000" cy="468000"/>
          </a:xfrm>
        </p:grpSpPr>
        <p:sp>
          <p:nvSpPr>
            <p:cNvPr id="35" name="Rectangle 34"/>
            <p:cNvSpPr/>
            <p:nvPr/>
          </p:nvSpPr>
          <p:spPr>
            <a:xfrm>
              <a:off x="5562000" y="827999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727600" y="827999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893199" y="827999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6058799" y="827999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6224400" y="827999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5562000" y="9840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5562000" y="11400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6462000" y="648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570000" y="1062000"/>
            <a:ext cx="2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86000" y="1062000"/>
            <a:ext cx="0" cy="683999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350000" y="1745999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50000" y="1745999"/>
            <a:ext cx="0" cy="226801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491999" y="1745999"/>
            <a:ext cx="0" cy="226801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633999" y="1745999"/>
            <a:ext cx="0" cy="226801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75999" y="1745999"/>
            <a:ext cx="0" cy="226801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42000" y="1980000"/>
            <a:ext cx="2015999" cy="2556000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0000" y="20232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4000" y="2358000"/>
            <a:ext cx="1691999" cy="1224000"/>
          </a:xfrm>
          <a:prstGeom prst="roundRect">
            <a:avLst>
              <a:gd name="adj" fmla="val 147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DPT Decoder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50000" y="3581999"/>
            <a:ext cx="0" cy="288001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42000" y="3906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84000" y="1980000"/>
            <a:ext cx="2015999" cy="2556000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91999" y="20232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46000" y="2358000"/>
            <a:ext cx="1691999" cy="4500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91999" y="2808000"/>
            <a:ext cx="0" cy="233999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646000" y="3041999"/>
            <a:ext cx="1691999" cy="540000"/>
          </a:xfrm>
          <a:prstGeom prst="roundRect">
            <a:avLst>
              <a:gd name="adj" fmla="val 3333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query: camera token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491999" y="3581999"/>
            <a:ext cx="0" cy="288001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484000" y="3906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25999" y="1980000"/>
            <a:ext cx="2015999" cy="2556000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33999" y="20232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88000" y="2358000"/>
            <a:ext cx="1691999" cy="4500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33999" y="2808000"/>
            <a:ext cx="0" cy="233999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4788000" y="3041999"/>
            <a:ext cx="1691999" cy="540000"/>
          </a:xfrm>
          <a:prstGeom prst="roundRect">
            <a:avLst>
              <a:gd name="adj" fmla="val 3333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633999" y="3581999"/>
            <a:ext cx="0" cy="288001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625999" y="3906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67999" y="1980000"/>
            <a:ext cx="2015999" cy="2556000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75999" y="20232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30000" y="2358000"/>
            <a:ext cx="1691999" cy="450000"/>
          </a:xfrm>
          <a:prstGeom prst="roundRect">
            <a:avLst>
              <a:gd name="adj" fmla="val 40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×24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75999" y="2808000"/>
            <a:ext cx="0" cy="233999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6930000" y="3041999"/>
            <a:ext cx="1691999" cy="540000"/>
          </a:xfrm>
          <a:prstGeom prst="roundRect">
            <a:avLst>
              <a:gd name="adj" fmla="val 3333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775999" y="3581999"/>
            <a:ext cx="0" cy="288001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767999" y="3906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4400" y="7416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3200" y="8028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2000" y="864000"/>
            <a:ext cx="684000" cy="413999"/>
          </a:xfrm>
          <a:prstGeom prst="roundRect">
            <a:avLst>
              <a:gd name="adj" fmla="val 4347"/>
            </a:avLst>
          </a:prstGeom>
          <a:solidFill>
            <a:srgbClr val="EEF0F3"/>
          </a:solidFill>
          <a:ln w="9525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386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8000" y="737999"/>
            <a:ext cx="1475999" cy="630000"/>
          </a:xfrm>
          <a:prstGeom prst="roundRect">
            <a:avLst>
              <a:gd name="adj" fmla="val 14285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700" b="1" i="0">
                <a:solidFill>
                  <a:srgbClr val="3F949C"/>
                </a:solidFill>
                <a:latin typeface="Work Sans"/>
              </a:rPr>
              <a:t>LaGeOM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frozen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4000" y="1053000"/>
            <a:ext cx="324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ket 7"/>
          <p:cNvSpPr/>
          <p:nvPr/>
        </p:nvSpPr>
        <p:spPr>
          <a:xfrm>
            <a:off x="3581999" y="630000"/>
            <a:ext cx="108000" cy="827999"/>
          </a:xfrm>
          <a:prstGeom prst="lef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884399" y="813600"/>
            <a:ext cx="828001" cy="468000"/>
            <a:chOff x="3884399" y="813600"/>
            <a:chExt cx="828001" cy="468000"/>
          </a:xfrm>
        </p:grpSpPr>
        <p:sp>
          <p:nvSpPr>
            <p:cNvPr id="10" name="Rectangle 9"/>
            <p:cNvSpPr/>
            <p:nvPr/>
          </p:nvSpPr>
          <p:spPr>
            <a:xfrm>
              <a:off x="3884399" y="8136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0500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2156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381199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6800" y="8136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3884399" y="969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3884399" y="11256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3823199" y="874800"/>
            <a:ext cx="828000" cy="468000"/>
            <a:chOff x="3823199" y="874800"/>
            <a:chExt cx="828000" cy="468000"/>
          </a:xfrm>
        </p:grpSpPr>
        <p:sp>
          <p:nvSpPr>
            <p:cNvPr id="18" name="Rectangle 17"/>
            <p:cNvSpPr/>
            <p:nvPr/>
          </p:nvSpPr>
          <p:spPr>
            <a:xfrm>
              <a:off x="3823199" y="8748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39887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4154399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200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485600" y="8748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3823199" y="1030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3823199" y="1186800"/>
              <a:ext cx="828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3761999" y="936000"/>
            <a:ext cx="828001" cy="468000"/>
            <a:chOff x="3761999" y="936000"/>
            <a:chExt cx="828001" cy="468000"/>
          </a:xfrm>
        </p:grpSpPr>
        <p:sp>
          <p:nvSpPr>
            <p:cNvPr id="26" name="Rectangle 25"/>
            <p:cNvSpPr/>
            <p:nvPr/>
          </p:nvSpPr>
          <p:spPr>
            <a:xfrm>
              <a:off x="3761999" y="936000"/>
              <a:ext cx="827999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39276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40931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258799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424400" y="936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3761999" y="1092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3761999" y="1248000"/>
              <a:ext cx="828001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770000" y="1062000"/>
            <a:ext cx="14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F2433"/>
                </a:solidFill>
                <a:latin typeface="Work Sans"/>
              </a:rPr>
              <a:t>,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4986000" y="810000"/>
            <a:ext cx="827999" cy="468000"/>
            <a:chOff x="4986000" y="810000"/>
            <a:chExt cx="827999" cy="468000"/>
          </a:xfrm>
        </p:grpSpPr>
        <p:sp>
          <p:nvSpPr>
            <p:cNvPr id="35" name="Rectangle 34"/>
            <p:cNvSpPr/>
            <p:nvPr/>
          </p:nvSpPr>
          <p:spPr>
            <a:xfrm>
              <a:off x="4986000" y="810000"/>
              <a:ext cx="827999" cy="468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Connector 35"/>
            <p:cNvCxnSpPr/>
            <p:nvPr/>
          </p:nvCxnSpPr>
          <p:spPr>
            <a:xfrm>
              <a:off x="51516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3172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4828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5648400" y="810000"/>
              <a:ext cx="0" cy="468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86000" y="966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4986000" y="1122000"/>
              <a:ext cx="827999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Bracket 41"/>
          <p:cNvSpPr/>
          <p:nvPr/>
        </p:nvSpPr>
        <p:spPr>
          <a:xfrm>
            <a:off x="5886000" y="630000"/>
            <a:ext cx="108000" cy="827999"/>
          </a:xfrm>
          <a:prstGeom prst="rightBracket">
            <a:avLst/>
          </a:prstGeom>
          <a:noFill/>
          <a:ln w="19050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93999" y="1044000"/>
            <a:ext cx="252001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246000" y="1044000"/>
            <a:ext cx="0" cy="55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30000" y="1602000"/>
            <a:ext cx="5616000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30000" y="1602000"/>
            <a:ext cx="0" cy="918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000" y="2520000"/>
            <a:ext cx="162000" cy="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60000" y="1782000"/>
            <a:ext cx="8424000" cy="1422000"/>
          </a:xfrm>
          <a:prstGeom prst="roundRect">
            <a:avLst>
              <a:gd name="adj" fmla="val 15189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4000" y="1818000"/>
            <a:ext cx="288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932400" y="2224800"/>
            <a:ext cx="792000" cy="468000"/>
            <a:chOff x="932400" y="2224800"/>
            <a:chExt cx="792000" cy="468000"/>
          </a:xfrm>
        </p:grpSpPr>
        <p:sp>
          <p:nvSpPr>
            <p:cNvPr id="51" name="Rectangle 50"/>
            <p:cNvSpPr/>
            <p:nvPr/>
          </p:nvSpPr>
          <p:spPr>
            <a:xfrm>
              <a:off x="932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908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2492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407600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565999" y="22248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932400" y="2380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932400" y="25368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871200" y="2286000"/>
            <a:ext cx="792000" cy="468000"/>
            <a:chOff x="871200" y="2286000"/>
            <a:chExt cx="792000" cy="468000"/>
          </a:xfrm>
        </p:grpSpPr>
        <p:sp>
          <p:nvSpPr>
            <p:cNvPr id="59" name="Rectangle 58"/>
            <p:cNvSpPr/>
            <p:nvPr/>
          </p:nvSpPr>
          <p:spPr>
            <a:xfrm>
              <a:off x="871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0" name="Connector 59"/>
            <p:cNvCxnSpPr/>
            <p:nvPr/>
          </p:nvCxnSpPr>
          <p:spPr>
            <a:xfrm>
              <a:off x="10296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1880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3464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504800" y="22860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871200" y="2442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871200" y="25980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810000" y="2347200"/>
            <a:ext cx="792000" cy="468000"/>
            <a:chOff x="810000" y="2347200"/>
            <a:chExt cx="792000" cy="468000"/>
          </a:xfrm>
        </p:grpSpPr>
        <p:sp>
          <p:nvSpPr>
            <p:cNvPr id="67" name="Rectangle 66"/>
            <p:cNvSpPr/>
            <p:nvPr/>
          </p:nvSpPr>
          <p:spPr>
            <a:xfrm>
              <a:off x="810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9AA1A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8" name="Connector 67"/>
            <p:cNvCxnSpPr/>
            <p:nvPr/>
          </p:nvCxnSpPr>
          <p:spPr>
            <a:xfrm>
              <a:off x="9684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1268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2852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43600" y="2347200"/>
              <a:ext cx="0" cy="46800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810000" y="2503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810000" y="2659200"/>
              <a:ext cx="792000" cy="0"/>
            </a:xfrm>
            <a:prstGeom prst="line">
              <a:avLst/>
            </a:prstGeom>
            <a:ln w="6350">
              <a:solidFill>
                <a:srgbClr val="9AA1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or 73"/>
          <p:cNvCxnSpPr/>
          <p:nvPr/>
        </p:nvCxnSpPr>
        <p:spPr>
          <a:xfrm>
            <a:off x="1782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088000" y="2070000"/>
            <a:ext cx="720000" cy="1044000"/>
          </a:xfrm>
          <a:prstGeom prst="roundRect">
            <a:avLst>
              <a:gd name="adj" fmla="val 2500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SA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Block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×24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808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/>
          <p:cNvGrpSpPr/>
          <p:nvPr/>
        </p:nvGrpSpPr>
        <p:grpSpPr>
          <a:xfrm>
            <a:off x="3236400" y="2224800"/>
            <a:ext cx="792000" cy="468000"/>
            <a:chOff x="3236400" y="2224800"/>
            <a:chExt cx="792000" cy="468000"/>
          </a:xfrm>
        </p:grpSpPr>
        <p:sp>
          <p:nvSpPr>
            <p:cNvPr id="78" name="Rectangle 77"/>
            <p:cNvSpPr/>
            <p:nvPr/>
          </p:nvSpPr>
          <p:spPr>
            <a:xfrm>
              <a:off x="3236400" y="22248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Connector 78"/>
            <p:cNvCxnSpPr/>
            <p:nvPr/>
          </p:nvCxnSpPr>
          <p:spPr>
            <a:xfrm>
              <a:off x="33948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5532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7116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870000" y="22248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236400" y="2380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236400" y="25368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175200" y="2286000"/>
            <a:ext cx="792000" cy="468000"/>
            <a:chOff x="3175200" y="2286000"/>
            <a:chExt cx="792000" cy="468000"/>
          </a:xfrm>
        </p:grpSpPr>
        <p:sp>
          <p:nvSpPr>
            <p:cNvPr id="86" name="Rectangle 85"/>
            <p:cNvSpPr/>
            <p:nvPr/>
          </p:nvSpPr>
          <p:spPr>
            <a:xfrm>
              <a:off x="3175200" y="22860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7" name="Connector 86"/>
            <p:cNvCxnSpPr/>
            <p:nvPr/>
          </p:nvCxnSpPr>
          <p:spPr>
            <a:xfrm>
              <a:off x="33336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34920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36504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3808800" y="22860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or 90"/>
            <p:cNvCxnSpPr/>
            <p:nvPr/>
          </p:nvCxnSpPr>
          <p:spPr>
            <a:xfrm>
              <a:off x="3175200" y="2442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nector 91"/>
            <p:cNvCxnSpPr/>
            <p:nvPr/>
          </p:nvCxnSpPr>
          <p:spPr>
            <a:xfrm>
              <a:off x="3175200" y="25980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/>
          <p:cNvGrpSpPr/>
          <p:nvPr/>
        </p:nvGrpSpPr>
        <p:grpSpPr>
          <a:xfrm>
            <a:off x="3114000" y="2347200"/>
            <a:ext cx="792000" cy="468000"/>
            <a:chOff x="3114000" y="2347200"/>
            <a:chExt cx="792000" cy="468000"/>
          </a:xfrm>
        </p:grpSpPr>
        <p:sp>
          <p:nvSpPr>
            <p:cNvPr id="94" name="Rectangle 93"/>
            <p:cNvSpPr/>
            <p:nvPr/>
          </p:nvSpPr>
          <p:spPr>
            <a:xfrm>
              <a:off x="3114000" y="2347200"/>
              <a:ext cx="792000" cy="468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5412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Connector 94"/>
            <p:cNvCxnSpPr/>
            <p:nvPr/>
          </p:nvCxnSpPr>
          <p:spPr>
            <a:xfrm>
              <a:off x="32724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34308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35892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3747600" y="2347200"/>
              <a:ext cx="0" cy="46800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3114000" y="2503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 99"/>
            <p:cNvCxnSpPr/>
            <p:nvPr/>
          </p:nvCxnSpPr>
          <p:spPr>
            <a:xfrm>
              <a:off x="3114000" y="2659200"/>
              <a:ext cx="792000" cy="0"/>
            </a:xfrm>
            <a:prstGeom prst="line">
              <a:avLst/>
            </a:prstGeom>
            <a:ln w="6350">
              <a:solidFill>
                <a:srgbClr val="B541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1" name="Connector 100"/>
          <p:cNvCxnSpPr/>
          <p:nvPr/>
        </p:nvCxnSpPr>
        <p:spPr>
          <a:xfrm>
            <a:off x="4086000" y="2520000"/>
            <a:ext cx="288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4392000" y="2214000"/>
            <a:ext cx="1584000" cy="612000"/>
          </a:xfrm>
          <a:prstGeom prst="roundRect">
            <a:avLst>
              <a:gd name="adj" fmla="val 294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Cross-Attention</a:t>
            </a:r>
          </a:p>
          <a:p>
            <a:pPr algn="ctr"/>
            <a:r>
              <a:rPr sz="1400" b="0" i="0">
                <a:solidFill>
                  <a:srgbClr val="1F2433"/>
                </a:solidFill>
                <a:latin typeface="Work Sans"/>
              </a:rPr>
              <a:t>Decoder ×8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031999" y="1854000"/>
            <a:ext cx="2304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1F2433"/>
                </a:solidFill>
                <a:latin typeface="Work Sans"/>
              </a:rPr>
              <a:t>query  (u, v, t_src, t_tgt, t_cam)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184000" y="2070000"/>
            <a:ext cx="0" cy="1368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5976000" y="2520000"/>
            <a:ext cx="612000" cy="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660000" y="2358000"/>
            <a:ext cx="2088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