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0" y="2214000"/>
            <a:ext cx="0" cy="14400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350000" y="2358000"/>
            <a:ext cx="6425999" cy="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350000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91999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33999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775999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2000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000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Flow Head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4000" y="2844000"/>
            <a:ext cx="1691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Reassemble</a:t>
            </a:r>
          </a:p>
          <a:p>
            <a:pPr algn="ctr"/>
            <a:r>
              <a:rPr sz="1000" b="0" i="1">
                <a:solidFill>
                  <a:srgbClr val="6B7385"/>
                </a:solidFill>
                <a:latin typeface="Work Sans"/>
              </a:rPr>
              <a:t>per frame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50000" y="3258000"/>
            <a:ext cx="0" cy="198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4000" y="3474000"/>
            <a:ext cx="1691999" cy="503999"/>
          </a:xfrm>
          <a:prstGeom prst="roundRect">
            <a:avLst>
              <a:gd name="adj" fmla="val 3571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Fusion ×4</a:t>
            </a:r>
          </a:p>
          <a:p>
            <a:pPr algn="ctr"/>
            <a:r>
              <a:rPr sz="1000" b="0" i="1">
                <a:solidFill>
                  <a:srgbClr val="6B7385"/>
                </a:solidFill>
                <a:latin typeface="Work Sans"/>
              </a:rPr>
              <a:t>upsample to H×W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50000" y="3978000"/>
            <a:ext cx="0" cy="270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42000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(Δx, Δy) per pixel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84000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1999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Camera Pose Head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46000" y="2844000"/>
            <a:ext cx="1691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SA Block ×2</a:t>
            </a:r>
          </a:p>
          <a:p>
            <a:pPr algn="ctr"/>
            <a:r>
              <a:rPr sz="1000" b="0" i="1">
                <a:solidFill>
                  <a:srgbClr val="6B7385"/>
                </a:solidFill>
                <a:latin typeface="Work Sans"/>
              </a:rPr>
              <a:t>frame / clip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91999" y="3258000"/>
            <a:ext cx="0" cy="198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519999" y="3265200"/>
            <a:ext cx="1943999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query: camera token per frame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46000" y="3474000"/>
            <a:ext cx="1691999" cy="503999"/>
          </a:xfrm>
          <a:prstGeom prst="roundRect">
            <a:avLst>
              <a:gd name="adj" fmla="val 3571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Camera Decoder ×4</a:t>
            </a:r>
          </a:p>
          <a:p>
            <a:pPr algn="ctr"/>
            <a:r>
              <a:rPr sz="1000" b="0" i="1">
                <a:solidFill>
                  <a:srgbClr val="6B7385"/>
                </a:solidFill>
                <a:latin typeface="Work Sans"/>
              </a:rPr>
              <a:t>local CA · global CA · SA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491999" y="3978000"/>
            <a:ext cx="0" cy="270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484000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(R, t) per frame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25999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33999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2D Tracking Head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88000" y="2844000"/>
            <a:ext cx="1691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SA Block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33999" y="3258000"/>
            <a:ext cx="0" cy="198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661999" y="3265200"/>
            <a:ext cx="1943999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query: (u, v, 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88000" y="3474000"/>
            <a:ext cx="1691999" cy="503999"/>
          </a:xfrm>
          <a:prstGeom prst="roundRect">
            <a:avLst>
              <a:gd name="adj" fmla="val 3571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Cross-Attn Decoder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33999" y="3978000"/>
            <a:ext cx="0" cy="270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625999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(x, y, vis)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67999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75999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3D Tracking Head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30000" y="2844000"/>
            <a:ext cx="1691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SA Block ×12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75999" y="3258000"/>
            <a:ext cx="0" cy="198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803999" y="3265200"/>
            <a:ext cx="1943999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query: (u, v, t_src, t_tgt, t_cam)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30000" y="3474000"/>
            <a:ext cx="1691999" cy="503999"/>
          </a:xfrm>
          <a:prstGeom prst="roundRect">
            <a:avLst>
              <a:gd name="adj" fmla="val 3571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Cross-Attn Decoder ×8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775999" y="3978000"/>
            <a:ext cx="0" cy="270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767999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(X, Y, Z, vis)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0" y="2214000"/>
            <a:ext cx="0" cy="14400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350000" y="2358000"/>
            <a:ext cx="6425999" cy="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350000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91999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33999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775999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2000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000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Flow Head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4000" y="2844000"/>
            <a:ext cx="1691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Reassemble</a:t>
            </a:r>
          </a:p>
          <a:p>
            <a:pPr algn="ctr"/>
            <a:r>
              <a:rPr sz="1000" b="0" i="1">
                <a:solidFill>
                  <a:srgbClr val="6B7385"/>
                </a:solidFill>
                <a:latin typeface="Work Sans"/>
              </a:rPr>
              <a:t>per frame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50000" y="3258000"/>
            <a:ext cx="0" cy="198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4000" y="3474000"/>
            <a:ext cx="1691999" cy="503999"/>
          </a:xfrm>
          <a:prstGeom prst="roundRect">
            <a:avLst>
              <a:gd name="adj" fmla="val 3571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Fusion ×4</a:t>
            </a:r>
          </a:p>
          <a:p>
            <a:pPr algn="ctr"/>
            <a:r>
              <a:rPr sz="1000" b="0" i="1">
                <a:solidFill>
                  <a:srgbClr val="6B7385"/>
                </a:solidFill>
                <a:latin typeface="Work Sans"/>
              </a:rPr>
              <a:t>upsample to H×W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50000" y="3978000"/>
            <a:ext cx="0" cy="270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42000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(Δx, Δy) per pixel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84000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1999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Camera Pose Head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46000" y="2844000"/>
            <a:ext cx="1691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SA Block ×2</a:t>
            </a:r>
          </a:p>
          <a:p>
            <a:pPr algn="ctr"/>
            <a:r>
              <a:rPr sz="1000" b="0" i="1">
                <a:solidFill>
                  <a:srgbClr val="6B7385"/>
                </a:solidFill>
                <a:latin typeface="Work Sans"/>
              </a:rPr>
              <a:t>frame / clip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91999" y="3258000"/>
            <a:ext cx="0" cy="198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519999" y="3265200"/>
            <a:ext cx="1943999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query: camera token per frame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46000" y="3474000"/>
            <a:ext cx="1691999" cy="503999"/>
          </a:xfrm>
          <a:prstGeom prst="roundRect">
            <a:avLst>
              <a:gd name="adj" fmla="val 3571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Camera Decoder ×4</a:t>
            </a:r>
          </a:p>
          <a:p>
            <a:pPr algn="ctr"/>
            <a:r>
              <a:rPr sz="1000" b="0" i="1">
                <a:solidFill>
                  <a:srgbClr val="6B7385"/>
                </a:solidFill>
                <a:latin typeface="Work Sans"/>
              </a:rPr>
              <a:t>local CA · global CA · SA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491999" y="3978000"/>
            <a:ext cx="0" cy="270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484000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(R, t) per frame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25999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33999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2D Tracking Head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88000" y="2844000"/>
            <a:ext cx="1691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SA Block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33999" y="3258000"/>
            <a:ext cx="0" cy="198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661999" y="3265200"/>
            <a:ext cx="1943999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query: (u, v, 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88000" y="3474000"/>
            <a:ext cx="1691999" cy="503999"/>
          </a:xfrm>
          <a:prstGeom prst="roundRect">
            <a:avLst>
              <a:gd name="adj" fmla="val 3571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Cross-Attn Decoder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33999" y="3978000"/>
            <a:ext cx="0" cy="270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625999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(x, y, vis)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67999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75999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3D Tracking Head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30000" y="2844000"/>
            <a:ext cx="1691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SA Block ×12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75999" y="3258000"/>
            <a:ext cx="0" cy="198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803999" y="3265200"/>
            <a:ext cx="1943999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query: (u, v, t_src, t_tgt, t_cam)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30000" y="3474000"/>
            <a:ext cx="1691999" cy="503999"/>
          </a:xfrm>
          <a:prstGeom prst="roundRect">
            <a:avLst>
              <a:gd name="adj" fmla="val 3571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Cross-Attn Decoder ×8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775999" y="3978000"/>
            <a:ext cx="0" cy="270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767999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(X, Y, Z, vis)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29999" y="2376000"/>
            <a:ext cx="2124000" cy="2519999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1999" y="2376000"/>
            <a:ext cx="2124000" cy="2519999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713999" y="2376000"/>
            <a:ext cx="2124000" cy="2519999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0" y="2214000"/>
            <a:ext cx="0" cy="14400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350000" y="2358000"/>
            <a:ext cx="6425999" cy="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350000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91999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33999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775999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2000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000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Flow Head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4000" y="2844000"/>
            <a:ext cx="1691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Reassemble</a:t>
            </a:r>
          </a:p>
          <a:p>
            <a:pPr algn="ctr"/>
            <a:r>
              <a:rPr sz="1000" b="0" i="1">
                <a:solidFill>
                  <a:srgbClr val="6B7385"/>
                </a:solidFill>
                <a:latin typeface="Work Sans"/>
              </a:rPr>
              <a:t>per frame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50000" y="3258000"/>
            <a:ext cx="0" cy="198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4000" y="3474000"/>
            <a:ext cx="1691999" cy="503999"/>
          </a:xfrm>
          <a:prstGeom prst="roundRect">
            <a:avLst>
              <a:gd name="adj" fmla="val 3571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Fusion ×4</a:t>
            </a:r>
          </a:p>
          <a:p>
            <a:pPr algn="ctr"/>
            <a:r>
              <a:rPr sz="1000" b="0" i="1">
                <a:solidFill>
                  <a:srgbClr val="6B7385"/>
                </a:solidFill>
                <a:latin typeface="Work Sans"/>
              </a:rPr>
              <a:t>upsample to H×W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50000" y="3978000"/>
            <a:ext cx="0" cy="270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42000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(Δx, Δy) per pixel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84000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1999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Camera Pose Head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46000" y="2844000"/>
            <a:ext cx="1691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SA Block ×2</a:t>
            </a:r>
          </a:p>
          <a:p>
            <a:pPr algn="ctr"/>
            <a:r>
              <a:rPr sz="1000" b="0" i="1">
                <a:solidFill>
                  <a:srgbClr val="6B7385"/>
                </a:solidFill>
                <a:latin typeface="Work Sans"/>
              </a:rPr>
              <a:t>frame / clip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91999" y="3258000"/>
            <a:ext cx="0" cy="198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519999" y="3265200"/>
            <a:ext cx="1943999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query: camera token per frame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46000" y="3474000"/>
            <a:ext cx="1691999" cy="503999"/>
          </a:xfrm>
          <a:prstGeom prst="roundRect">
            <a:avLst>
              <a:gd name="adj" fmla="val 3571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Camera Decoder ×4</a:t>
            </a:r>
          </a:p>
          <a:p>
            <a:pPr algn="ctr"/>
            <a:r>
              <a:rPr sz="1000" b="0" i="1">
                <a:solidFill>
                  <a:srgbClr val="6B7385"/>
                </a:solidFill>
                <a:latin typeface="Work Sans"/>
              </a:rPr>
              <a:t>local CA · global CA · SA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491999" y="3978000"/>
            <a:ext cx="0" cy="270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484000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(R, t) per frame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25999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33999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2D Tracking Head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88000" y="2844000"/>
            <a:ext cx="1691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SA Block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33999" y="3258000"/>
            <a:ext cx="0" cy="198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661999" y="3265200"/>
            <a:ext cx="1943999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query: (u, v, 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88000" y="3474000"/>
            <a:ext cx="1691999" cy="503999"/>
          </a:xfrm>
          <a:prstGeom prst="roundRect">
            <a:avLst>
              <a:gd name="adj" fmla="val 3571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Cross-Attn Decoder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33999" y="3978000"/>
            <a:ext cx="0" cy="270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625999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(x, y, vis)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67999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75999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3D Tracking Head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30000" y="2844000"/>
            <a:ext cx="1691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SA Block ×12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75999" y="3258000"/>
            <a:ext cx="0" cy="198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803999" y="3265200"/>
            <a:ext cx="1943999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query: (u, v, t_src, t_tgt, t_cam)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30000" y="3474000"/>
            <a:ext cx="1691999" cy="503999"/>
          </a:xfrm>
          <a:prstGeom prst="roundRect">
            <a:avLst>
              <a:gd name="adj" fmla="val 3571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Cross-Attn Decoder ×8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775999" y="3978000"/>
            <a:ext cx="0" cy="270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767999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(X, Y, Z, vis)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8000" y="2376000"/>
            <a:ext cx="2124000" cy="2519999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1999" y="2376000"/>
            <a:ext cx="2124000" cy="2519999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713999" y="2376000"/>
            <a:ext cx="2124000" cy="2519999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0" y="2214000"/>
            <a:ext cx="0" cy="14400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350000" y="2358000"/>
            <a:ext cx="6425999" cy="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350000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91999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33999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775999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2000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000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Flow Head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4000" y="2844000"/>
            <a:ext cx="1691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Reassemble</a:t>
            </a:r>
          </a:p>
          <a:p>
            <a:pPr algn="ctr"/>
            <a:r>
              <a:rPr sz="1000" b="0" i="1">
                <a:solidFill>
                  <a:srgbClr val="6B7385"/>
                </a:solidFill>
                <a:latin typeface="Work Sans"/>
              </a:rPr>
              <a:t>per frame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50000" y="3258000"/>
            <a:ext cx="0" cy="198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4000" y="3474000"/>
            <a:ext cx="1691999" cy="503999"/>
          </a:xfrm>
          <a:prstGeom prst="roundRect">
            <a:avLst>
              <a:gd name="adj" fmla="val 3571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Fusion ×4</a:t>
            </a:r>
          </a:p>
          <a:p>
            <a:pPr algn="ctr"/>
            <a:r>
              <a:rPr sz="1000" b="0" i="1">
                <a:solidFill>
                  <a:srgbClr val="6B7385"/>
                </a:solidFill>
                <a:latin typeface="Work Sans"/>
              </a:rPr>
              <a:t>upsample to H×W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50000" y="3978000"/>
            <a:ext cx="0" cy="270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42000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(Δx, Δy) per pixel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84000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1999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Camera Pose Head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46000" y="2844000"/>
            <a:ext cx="1691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SA Block ×2</a:t>
            </a:r>
          </a:p>
          <a:p>
            <a:pPr algn="ctr"/>
            <a:r>
              <a:rPr sz="1000" b="0" i="1">
                <a:solidFill>
                  <a:srgbClr val="6B7385"/>
                </a:solidFill>
                <a:latin typeface="Work Sans"/>
              </a:rPr>
              <a:t>frame / clip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91999" y="3258000"/>
            <a:ext cx="0" cy="198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519999" y="3265200"/>
            <a:ext cx="1943999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query: camera token per frame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46000" y="3474000"/>
            <a:ext cx="1691999" cy="503999"/>
          </a:xfrm>
          <a:prstGeom prst="roundRect">
            <a:avLst>
              <a:gd name="adj" fmla="val 3571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Camera Decoder ×4</a:t>
            </a:r>
          </a:p>
          <a:p>
            <a:pPr algn="ctr"/>
            <a:r>
              <a:rPr sz="1000" b="0" i="1">
                <a:solidFill>
                  <a:srgbClr val="6B7385"/>
                </a:solidFill>
                <a:latin typeface="Work Sans"/>
              </a:rPr>
              <a:t>local CA · global CA · SA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491999" y="3978000"/>
            <a:ext cx="0" cy="270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484000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(R, t) per frame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25999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33999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2D Tracking Head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88000" y="2844000"/>
            <a:ext cx="1691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SA Block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33999" y="3258000"/>
            <a:ext cx="0" cy="198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661999" y="3265200"/>
            <a:ext cx="1943999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query: (u, v, 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88000" y="3474000"/>
            <a:ext cx="1691999" cy="503999"/>
          </a:xfrm>
          <a:prstGeom prst="roundRect">
            <a:avLst>
              <a:gd name="adj" fmla="val 3571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Cross-Attn Decoder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33999" y="3978000"/>
            <a:ext cx="0" cy="270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625999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(x, y, vis)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67999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75999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3D Tracking Head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30000" y="2844000"/>
            <a:ext cx="1691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SA Block ×12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75999" y="3258000"/>
            <a:ext cx="0" cy="198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803999" y="3265200"/>
            <a:ext cx="1943999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query: (u, v, t_src, t_tgt, t_cam)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30000" y="3474000"/>
            <a:ext cx="1691999" cy="503999"/>
          </a:xfrm>
          <a:prstGeom prst="roundRect">
            <a:avLst>
              <a:gd name="adj" fmla="val 3571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Cross-Attn Decoder ×8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775999" y="3978000"/>
            <a:ext cx="0" cy="270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767999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(X, Y, Z, vis)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8000" y="2376000"/>
            <a:ext cx="2124000" cy="2519999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429999" y="2376000"/>
            <a:ext cx="2124000" cy="2519999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713999" y="2376000"/>
            <a:ext cx="2124000" cy="2519999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0" y="2214000"/>
            <a:ext cx="0" cy="14400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350000" y="2358000"/>
            <a:ext cx="6425999" cy="0"/>
          </a:xfrm>
          <a:prstGeom prst="line">
            <a:avLst/>
          </a:prstGeom>
          <a:ln w="19050">
            <a:solidFill>
              <a:srgbClr val="1F24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350000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491999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633999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775999" y="2358000"/>
            <a:ext cx="0" cy="133200"/>
          </a:xfrm>
          <a:prstGeom prst="line">
            <a:avLst/>
          </a:prstGeom>
          <a:ln w="19050">
            <a:solidFill>
              <a:srgbClr val="1F24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42000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000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Flow Head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4000" y="2844000"/>
            <a:ext cx="1691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Reassemble</a:t>
            </a:r>
          </a:p>
          <a:p>
            <a:pPr algn="ctr"/>
            <a:r>
              <a:rPr sz="1000" b="0" i="1">
                <a:solidFill>
                  <a:srgbClr val="6B7385"/>
                </a:solidFill>
                <a:latin typeface="Work Sans"/>
              </a:rPr>
              <a:t>per frame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50000" y="3258000"/>
            <a:ext cx="0" cy="198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4000" y="3474000"/>
            <a:ext cx="1691999" cy="503999"/>
          </a:xfrm>
          <a:prstGeom prst="roundRect">
            <a:avLst>
              <a:gd name="adj" fmla="val 3571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Fusion ×4</a:t>
            </a:r>
          </a:p>
          <a:p>
            <a:pPr algn="ctr"/>
            <a:r>
              <a:rPr sz="1000" b="0" i="1">
                <a:solidFill>
                  <a:srgbClr val="6B7385"/>
                </a:solidFill>
                <a:latin typeface="Work Sans"/>
              </a:rPr>
              <a:t>upsample to H×W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50000" y="3978000"/>
            <a:ext cx="0" cy="270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42000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(Δx, Δy) per pixel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84000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1999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Camera Pose Head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46000" y="2844000"/>
            <a:ext cx="1691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SA Block ×2</a:t>
            </a:r>
          </a:p>
          <a:p>
            <a:pPr algn="ctr"/>
            <a:r>
              <a:rPr sz="1000" b="0" i="1">
                <a:solidFill>
                  <a:srgbClr val="6B7385"/>
                </a:solidFill>
                <a:latin typeface="Work Sans"/>
              </a:rPr>
              <a:t>frame / clip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91999" y="3258000"/>
            <a:ext cx="0" cy="198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519999" y="3265200"/>
            <a:ext cx="1943999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query: camera token per frame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46000" y="3474000"/>
            <a:ext cx="1691999" cy="503999"/>
          </a:xfrm>
          <a:prstGeom prst="roundRect">
            <a:avLst>
              <a:gd name="adj" fmla="val 3571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Camera Decoder ×4</a:t>
            </a:r>
          </a:p>
          <a:p>
            <a:pPr algn="ctr"/>
            <a:r>
              <a:rPr sz="1000" b="0" i="1">
                <a:solidFill>
                  <a:srgbClr val="6B7385"/>
                </a:solidFill>
                <a:latin typeface="Work Sans"/>
              </a:rPr>
              <a:t>local CA · global CA · SA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491999" y="3978000"/>
            <a:ext cx="0" cy="270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484000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(R, t) per frame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25999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33999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2D Tracking Head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88000" y="2844000"/>
            <a:ext cx="1691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SA Block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33999" y="3258000"/>
            <a:ext cx="0" cy="198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661999" y="3265200"/>
            <a:ext cx="1943999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query: (u, v, 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88000" y="3474000"/>
            <a:ext cx="1691999" cy="503999"/>
          </a:xfrm>
          <a:prstGeom prst="roundRect">
            <a:avLst>
              <a:gd name="adj" fmla="val 3571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Cross-Attn Decoder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33999" y="3978000"/>
            <a:ext cx="0" cy="270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625999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(x, y, vis)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67999" y="2502000"/>
            <a:ext cx="2015999" cy="2339999"/>
          </a:xfrm>
          <a:prstGeom prst="roundRect">
            <a:avLst>
              <a:gd name="adj" fmla="val 8035"/>
            </a:avLst>
          </a:prstGeom>
          <a:noFill/>
          <a:ln w="19050">
            <a:solidFill>
              <a:srgbClr val="3F94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75999" y="2538000"/>
            <a:ext cx="1871999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3F949C"/>
                </a:solidFill>
                <a:latin typeface="Work Sans"/>
              </a:rPr>
              <a:t>3D Tracking Head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30000" y="2844000"/>
            <a:ext cx="1691999" cy="413999"/>
          </a:xfrm>
          <a:prstGeom prst="roundRect">
            <a:avLst>
              <a:gd name="adj" fmla="val 4347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SA Block ×12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75999" y="3258000"/>
            <a:ext cx="0" cy="198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803999" y="3265200"/>
            <a:ext cx="1943999" cy="1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1">
                <a:solidFill>
                  <a:srgbClr val="6B7385"/>
                </a:solidFill>
                <a:latin typeface="Work Sans"/>
              </a:rPr>
              <a:t>query: (u, v, t_src, t_tgt, t_cam)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30000" y="3474000"/>
            <a:ext cx="1691999" cy="503999"/>
          </a:xfrm>
          <a:prstGeom prst="roundRect">
            <a:avLst>
              <a:gd name="adj" fmla="val 3571"/>
            </a:avLst>
          </a:prstGeom>
          <a:solidFill>
            <a:srgbClr val="FDF3EA"/>
          </a:solidFill>
          <a:ln w="12700">
            <a:solidFill>
              <a:srgbClr val="C9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300" b="0" i="0">
                <a:solidFill>
                  <a:srgbClr val="1F2433"/>
                </a:solidFill>
                <a:latin typeface="Work Sans"/>
              </a:rPr>
              <a:t>Cross-Attn Decoder ×8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775999" y="3978000"/>
            <a:ext cx="0" cy="270000"/>
          </a:xfrm>
          <a:prstGeom prst="line">
            <a:avLst/>
          </a:prstGeom>
          <a:ln w="19050">
            <a:solidFill>
              <a:srgbClr val="7B82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767999" y="4284000"/>
            <a:ext cx="2015999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 i="0">
                <a:solidFill>
                  <a:srgbClr val="1F2433"/>
                </a:solidFill>
                <a:latin typeface="Work Sans"/>
              </a:rPr>
              <a:t>(X, Y, Z, vis)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8000" y="2376000"/>
            <a:ext cx="2124000" cy="2519999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429999" y="2376000"/>
            <a:ext cx="2124000" cy="2519999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1999" y="2376000"/>
            <a:ext cx="2124000" cy="2519999"/>
          </a:xfrm>
          <a:prstGeom prst="rect">
            <a:avLst/>
          </a:prstGeom>
          <a:solidFill>
            <a:srgbClr val="FFFF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