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" y="2214000"/>
            <a:ext cx="0" cy="144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50000" y="2358000"/>
            <a:ext cx="6425999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50000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1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33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5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000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Reassemble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per frame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0000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8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Fusion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upsample to H×W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50000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2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84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1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10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×2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frame / clip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610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50" b="0" i="0">
                <a:solidFill>
                  <a:srgbClr val="1F2433"/>
                </a:solidFill>
                <a:latin typeface="Work Sans"/>
              </a:rPr>
              <a:t>Camera Decoder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local CA · global CA · SA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camera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484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5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3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2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3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52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Cross-Attn Decoder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3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25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vis)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7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93999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75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93999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00" b="0" i="0">
                <a:solidFill>
                  <a:srgbClr val="1F2433"/>
                </a:solidFill>
                <a:latin typeface="Work Sans"/>
              </a:rPr>
              <a:t>Cross-Attn Decoder ×8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t_src, t_tgt)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75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7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Z, vis)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" y="2214000"/>
            <a:ext cx="0" cy="144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50000" y="2358000"/>
            <a:ext cx="6425999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50000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1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33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5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000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Reassemble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per frame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0000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8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Fusion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upsample to H×W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50000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2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84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1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10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×2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frame / clip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610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50" b="0" i="0">
                <a:solidFill>
                  <a:srgbClr val="1F2433"/>
                </a:solidFill>
                <a:latin typeface="Work Sans"/>
              </a:rPr>
              <a:t>Camera Decoder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local CA · global CA · SA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camera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484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5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3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2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3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52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Cross-Attn Decoder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3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25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vis)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7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93999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75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93999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00" b="0" i="0">
                <a:solidFill>
                  <a:srgbClr val="1F2433"/>
                </a:solidFill>
                <a:latin typeface="Work Sans"/>
              </a:rPr>
              <a:t>Cross-Attn Decoder ×8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t_src, t_tgt)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75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7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Z, vis)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9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1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13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" y="2214000"/>
            <a:ext cx="0" cy="144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50000" y="2358000"/>
            <a:ext cx="6425999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50000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1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33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5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000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Reassemble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per frame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0000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8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Fusion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upsample to H×W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50000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2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84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1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10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×2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frame / clip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610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50" b="0" i="0">
                <a:solidFill>
                  <a:srgbClr val="1F2433"/>
                </a:solidFill>
                <a:latin typeface="Work Sans"/>
              </a:rPr>
              <a:t>Camera Decoder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local CA · global CA · SA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camera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484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5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3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2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3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52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Cross-Attn Decoder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3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25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vis)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7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93999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75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93999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00" b="0" i="0">
                <a:solidFill>
                  <a:srgbClr val="1F2433"/>
                </a:solidFill>
                <a:latin typeface="Work Sans"/>
              </a:rPr>
              <a:t>Cross-Attn Decoder ×8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t_src, t_tgt)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75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7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Z, vis)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000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1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13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" y="2214000"/>
            <a:ext cx="0" cy="144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50000" y="2358000"/>
            <a:ext cx="6425999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50000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1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33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5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000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Reassemble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per frame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0000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8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Fusion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upsample to H×W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50000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2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84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1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10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×2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frame / clip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610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50" b="0" i="0">
                <a:solidFill>
                  <a:srgbClr val="1F2433"/>
                </a:solidFill>
                <a:latin typeface="Work Sans"/>
              </a:rPr>
              <a:t>Camera Decoder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local CA · global CA · SA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camera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484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5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3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2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3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52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Cross-Attn Decoder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3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25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vis)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7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93999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75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93999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00" b="0" i="0">
                <a:solidFill>
                  <a:srgbClr val="1F2433"/>
                </a:solidFill>
                <a:latin typeface="Work Sans"/>
              </a:rPr>
              <a:t>Cross-Attn Decoder ×8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t_src, t_tgt)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75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7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Z, vis)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000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29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13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0" y="2214000"/>
            <a:ext cx="0" cy="144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50000" y="2358000"/>
            <a:ext cx="6425999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50000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1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33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5999" y="2358000"/>
            <a:ext cx="0" cy="13320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000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Reassemble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per frame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0000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8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Fusion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upsample to H×W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50000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2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84000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1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10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×2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frame / clip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610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50" b="0" i="0">
                <a:solidFill>
                  <a:srgbClr val="1F2433"/>
                </a:solidFill>
                <a:latin typeface="Work Sans"/>
              </a:rPr>
              <a:t>Camera Decoder ×4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local CA · global CA · SA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camera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484000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5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3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2000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3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52000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Cross-Attn Decoder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3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25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vis)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7999" y="2502000"/>
            <a:ext cx="2015999" cy="2339999"/>
          </a:xfrm>
          <a:prstGeom prst="roundRect">
            <a:avLst>
              <a:gd name="adj" fmla="val 8035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2538000"/>
            <a:ext cx="1871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93999" y="2844000"/>
            <a:ext cx="1763999" cy="413999"/>
          </a:xfrm>
          <a:prstGeom prst="roundRect">
            <a:avLst>
              <a:gd name="adj" fmla="val 4347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300" b="0" i="0">
                <a:solidFill>
                  <a:srgbClr val="1F2433"/>
                </a:solidFill>
                <a:latin typeface="Work Sans"/>
              </a:rPr>
              <a:t>SA Block ×12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75999" y="3258000"/>
            <a:ext cx="0" cy="162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93999" y="3438000"/>
            <a:ext cx="1763999" cy="576000"/>
          </a:xfrm>
          <a:prstGeom prst="roundRect">
            <a:avLst>
              <a:gd name="adj" fmla="val 3125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200" b="0" i="0">
                <a:solidFill>
                  <a:srgbClr val="1F2433"/>
                </a:solidFill>
                <a:latin typeface="Work Sans"/>
              </a:rPr>
              <a:t>Cross-Attn Decoder ×8</a:t>
            </a:r>
          </a:p>
          <a:p>
            <a:pPr algn="ctr"/>
            <a:r>
              <a:rPr sz="950" b="0" i="1">
                <a:solidFill>
                  <a:srgbClr val="6B7385"/>
                </a:solidFill>
                <a:latin typeface="Work Sans"/>
              </a:rPr>
              <a:t>query: (u, v, t_src, t_tgt)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75999" y="4014000"/>
            <a:ext cx="0" cy="2340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7999" y="4284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(X, Y, Z, vis)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000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29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1999" y="2376000"/>
            <a:ext cx="2124000" cy="2519999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