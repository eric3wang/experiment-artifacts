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04000" y="957600"/>
            <a:ext cx="251999" cy="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2"/>
          <p:cNvSpPr/>
          <p:nvPr/>
        </p:nvSpPr>
        <p:spPr>
          <a:xfrm>
            <a:off x="1655999" y="687600"/>
            <a:ext cx="936000" cy="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 tIns="18000" bIns="18000" wrap="square"/>
          <a:lstStyle/>
          <a:p>
            <a:pPr algn="ctr"/>
            <a:r>
              <a:rPr sz="1500" b="1">
                <a:solidFill>
                  <a:srgbClr val="1F2433"/>
                </a:solidFill>
                <a:latin typeface="Work Sans"/>
              </a:rPr>
              <a:t>DINO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92000" y="957600"/>
            <a:ext cx="216000" cy="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888000" y="957600"/>
            <a:ext cx="288000" cy="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04000" y="1677600"/>
            <a:ext cx="251999" cy="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55999" y="1407600"/>
            <a:ext cx="936000" cy="54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 tIns="18000" bIns="18000" wrap="square"/>
          <a:lstStyle/>
          <a:p>
            <a:pPr algn="ctr"/>
            <a:r>
              <a:rPr sz="1500" b="1">
                <a:solidFill>
                  <a:srgbClr val="1F2433"/>
                </a:solidFill>
                <a:latin typeface="Work Sans"/>
              </a:rPr>
              <a:t>DINO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2000" y="1677600"/>
            <a:ext cx="216000" cy="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88000" y="1677600"/>
            <a:ext cx="288000" cy="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76000" y="666000"/>
            <a:ext cx="2015999" cy="1303200"/>
          </a:xfrm>
          <a:prstGeom prst="roundRect">
            <a:avLst>
              <a:gd name="adj" fmla="val 6906"/>
            </a:avLst>
          </a:prstGeom>
          <a:solidFill>
            <a:srgbClr val="E3F2F1"/>
          </a:solidFill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 tIns="18000" bIns="18000" wrap="square"/>
          <a:lstStyle/>
          <a:p>
            <a:pPr algn="ctr"/>
            <a:r>
              <a:rPr sz="2200" b="1">
                <a:solidFill>
                  <a:srgbClr val="3F949C"/>
                </a:solidFill>
                <a:latin typeface="Work Sans"/>
              </a:rPr>
              <a:t>IDM</a:t>
            </a:r>
          </a:p>
          <a:p>
            <a:pPr algn="ctr"/>
            <a:r>
              <a:rPr sz="800" b="0">
                <a:solidFill>
                  <a:srgbClr val="1F2433"/>
                </a:solidFill>
                <a:latin typeface="Work Sans"/>
              </a:rPr>
              <a:t/>
            </a:r>
          </a:p>
          <a:p>
            <a:pPr algn="ctr"/>
            <a:r>
              <a:rPr sz="1100" b="0">
                <a:solidFill>
                  <a:srgbClr val="1F2433"/>
                </a:solidFill>
                <a:latin typeface="Work Sans"/>
              </a:rPr>
              <a:t>Domain-shift</a:t>
            </a:r>
          </a:p>
          <a:p>
            <a:pPr algn="ctr"/>
            <a:r>
              <a:rPr sz="1100" b="0">
                <a:solidFill>
                  <a:srgbClr val="1F2433"/>
                </a:solidFill>
                <a:latin typeface="Work Sans"/>
              </a:rPr>
              <a:t>KQ-dot product</a:t>
            </a:r>
          </a:p>
        </p:txBody>
      </p:sp>
      <p:sp>
        <p:nvSpPr>
          <p:cNvPr id="11" name="Freeform 10"/>
          <p:cNvSpPr/>
          <p:nvPr/>
        </p:nvSpPr>
        <p:spPr>
          <a:xfrm>
            <a:off x="6516000" y="702000"/>
            <a:ext cx="360000" cy="1223999"/>
          </a:xfrm>
          <a:custGeom>
            <a:avLst/>
            <a:gdLst/>
            <a:ahLst/>
            <a:cxnLst/>
            <a:rect l="l" t="t" r="r" b="b"/>
            <a:pathLst>
              <a:path w="360000" h="1223999">
                <a:moveTo>
                  <a:pt x="0" y="0"/>
                </a:moveTo>
                <a:lnTo>
                  <a:pt x="360000" y="1223999"/>
                </a:lnTo>
                <a:lnTo>
                  <a:pt x="360000" y="0"/>
                </a:lnTo>
                <a:lnTo>
                  <a:pt x="0" y="1223999"/>
                </a:lnTo>
                <a:close/>
              </a:path>
            </a:pathLst>
          </a:custGeom>
          <a:solidFill>
            <a:srgbClr val="F3F4F7"/>
          </a:solidFill>
          <a:ln w="12700">
            <a:solidFill>
              <a:srgbClr val="C5CA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192000" y="1317600"/>
            <a:ext cx="324000" cy="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7200000" y="702000"/>
            <a:ext cx="936000" cy="511200"/>
            <a:chOff x="7200000" y="702000"/>
            <a:chExt cx="936000" cy="511200"/>
          </a:xfrm>
        </p:grpSpPr>
        <p:sp>
          <p:nvSpPr>
            <p:cNvPr id="14" name="Rectangle 13"/>
            <p:cNvSpPr/>
            <p:nvPr/>
          </p:nvSpPr>
          <p:spPr>
            <a:xfrm>
              <a:off x="7200000" y="702000"/>
              <a:ext cx="936000" cy="51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7387200" y="70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7574400" y="70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761600" y="70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948799" y="70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7200000" y="872400"/>
              <a:ext cx="936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200000" y="1042800"/>
              <a:ext cx="936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Connector 20"/>
          <p:cNvCxnSpPr/>
          <p:nvPr/>
        </p:nvCxnSpPr>
        <p:spPr>
          <a:xfrm flipV="1">
            <a:off x="6893999" y="957600"/>
            <a:ext cx="306001" cy="36000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/>
          <p:cNvGrpSpPr/>
          <p:nvPr/>
        </p:nvGrpSpPr>
        <p:grpSpPr>
          <a:xfrm>
            <a:off x="7200000" y="1422000"/>
            <a:ext cx="936000" cy="511200"/>
            <a:chOff x="7200000" y="1422000"/>
            <a:chExt cx="936000" cy="511200"/>
          </a:xfrm>
        </p:grpSpPr>
        <p:sp>
          <p:nvSpPr>
            <p:cNvPr id="23" name="Rectangle 22"/>
            <p:cNvSpPr/>
            <p:nvPr/>
          </p:nvSpPr>
          <p:spPr>
            <a:xfrm>
              <a:off x="7200000" y="1422000"/>
              <a:ext cx="936000" cy="511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7387200" y="142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7574400" y="142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7761600" y="142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7948799" y="1422000"/>
              <a:ext cx="0" cy="5112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7200000" y="1592399"/>
              <a:ext cx="936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7200000" y="1762800"/>
              <a:ext cx="936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Connector 29"/>
          <p:cNvCxnSpPr/>
          <p:nvPr/>
        </p:nvCxnSpPr>
        <p:spPr>
          <a:xfrm>
            <a:off x="6893999" y="1317600"/>
            <a:ext cx="306001" cy="360000"/>
          </a:xfrm>
          <a:prstGeom prst="line">
            <a:avLst/>
          </a:prstGeom>
          <a:ln w="15875">
            <a:solidFill>
              <a:srgbClr val="9AA1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/>
          <p:cNvGrpSpPr/>
          <p:nvPr/>
        </p:nvGrpSpPr>
        <p:grpSpPr>
          <a:xfrm>
            <a:off x="3247200" y="2520000"/>
            <a:ext cx="1152000" cy="756000"/>
            <a:chOff x="3247200" y="2520000"/>
            <a:chExt cx="1152000" cy="756000"/>
          </a:xfrm>
        </p:grpSpPr>
        <p:sp>
          <p:nvSpPr>
            <p:cNvPr id="32" name="Rectangle 31"/>
            <p:cNvSpPr/>
            <p:nvPr/>
          </p:nvSpPr>
          <p:spPr>
            <a:xfrm>
              <a:off x="3247200" y="2520000"/>
              <a:ext cx="1152000" cy="75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3477600" y="25200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3707999" y="25200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3938400" y="25200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4168800" y="25200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3247200" y="27720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3247200" y="30240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3171600" y="2595600"/>
            <a:ext cx="1152000" cy="756000"/>
            <a:chOff x="3171600" y="2595600"/>
            <a:chExt cx="1152000" cy="756000"/>
          </a:xfrm>
        </p:grpSpPr>
        <p:sp>
          <p:nvSpPr>
            <p:cNvPr id="40" name="Rectangle 39"/>
            <p:cNvSpPr/>
            <p:nvPr/>
          </p:nvSpPr>
          <p:spPr>
            <a:xfrm>
              <a:off x="3171600" y="2595600"/>
              <a:ext cx="1152000" cy="75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34020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36324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38628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40932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3171600" y="28476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3171600" y="30996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3096000" y="2671200"/>
            <a:ext cx="1152000" cy="756000"/>
            <a:chOff x="3096000" y="2671200"/>
            <a:chExt cx="1152000" cy="756000"/>
          </a:xfrm>
        </p:grpSpPr>
        <p:sp>
          <p:nvSpPr>
            <p:cNvPr id="48" name="Rectangle 47"/>
            <p:cNvSpPr/>
            <p:nvPr/>
          </p:nvSpPr>
          <p:spPr>
            <a:xfrm>
              <a:off x="3096000" y="2671200"/>
              <a:ext cx="1152000" cy="756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3326400" y="26712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3556799" y="26712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3787200" y="26712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4017600" y="26712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3096000" y="29232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3096000" y="31752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4896000" y="2595600"/>
            <a:ext cx="1152000" cy="756000"/>
            <a:chOff x="4896000" y="2595600"/>
            <a:chExt cx="1152000" cy="756000"/>
          </a:xfrm>
        </p:grpSpPr>
        <p:sp>
          <p:nvSpPr>
            <p:cNvPr id="56" name="Rectangle 55"/>
            <p:cNvSpPr/>
            <p:nvPr/>
          </p:nvSpPr>
          <p:spPr>
            <a:xfrm>
              <a:off x="4896000" y="2595600"/>
              <a:ext cx="1152000" cy="756000"/>
            </a:xfrm>
            <a:prstGeom prst="rect">
              <a:avLst/>
            </a:prstGeom>
            <a:solidFill>
              <a:srgbClr val="E3F2F1"/>
            </a:solidFill>
            <a:ln w="12700">
              <a:solidFill>
                <a:srgbClr val="3F949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Connector 56"/>
            <p:cNvCxnSpPr/>
            <p:nvPr/>
          </p:nvCxnSpPr>
          <p:spPr>
            <a:xfrm>
              <a:off x="51264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53568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55872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5817600" y="2595600"/>
              <a:ext cx="0" cy="75600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4896000" y="28476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4896000" y="3099600"/>
              <a:ext cx="1152000" cy="0"/>
            </a:xfrm>
            <a:prstGeom prst="line">
              <a:avLst/>
            </a:prstGeom>
            <a:ln w="6350">
              <a:solidFill>
                <a:srgbClr val="3F949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" name="Connector 62"/>
          <p:cNvCxnSpPr/>
          <p:nvPr/>
        </p:nvCxnSpPr>
        <p:spPr>
          <a:xfrm flipH="1">
            <a:off x="3384000" y="1980000"/>
            <a:ext cx="1080000" cy="540000"/>
          </a:xfrm>
          <a:prstGeom prst="line">
            <a:avLst/>
          </a:prstGeom>
          <a:ln w="15875">
            <a:solidFill>
              <a:srgbClr val="3F94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3726000" y="1980000"/>
            <a:ext cx="1026000" cy="615600"/>
          </a:xfrm>
          <a:prstGeom prst="line">
            <a:avLst/>
          </a:prstGeom>
          <a:ln w="15875">
            <a:solidFill>
              <a:srgbClr val="3F94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4068000" y="1980000"/>
            <a:ext cx="972000" cy="691200"/>
          </a:xfrm>
          <a:prstGeom prst="line">
            <a:avLst/>
          </a:prstGeom>
          <a:ln w="15875">
            <a:solidFill>
              <a:srgbClr val="3F94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6048000" y="1951200"/>
            <a:ext cx="1620000" cy="784800"/>
          </a:xfrm>
          <a:prstGeom prst="curvedConnector3">
            <a:avLst/>
          </a:prstGeom>
          <a:ln w="15875">
            <a:solidFill>
              <a:srgbClr val="3F94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Left Brace 66"/>
          <p:cNvSpPr/>
          <p:nvPr/>
        </p:nvSpPr>
        <p:spPr>
          <a:xfrm>
            <a:off x="2844000" y="2448000"/>
            <a:ext cx="125999" cy="1043999"/>
          </a:xfrm>
          <a:prstGeom prst="leftBrace">
            <a:avLst/>
          </a:prstGeom>
          <a:noFill/>
          <a:ln w="15875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ight Brace 67"/>
          <p:cNvSpPr/>
          <p:nvPr/>
        </p:nvSpPr>
        <p:spPr>
          <a:xfrm>
            <a:off x="6173999" y="2448000"/>
            <a:ext cx="125999" cy="1043999"/>
          </a:xfrm>
          <a:prstGeom prst="rightBrace">
            <a:avLst/>
          </a:prstGeom>
          <a:noFill/>
          <a:ln w="15875">
            <a:solidFill>
              <a:srgbClr val="1F24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76000" y="4176000"/>
            <a:ext cx="1584000" cy="612000"/>
          </a:xfrm>
          <a:prstGeom prst="roundRect">
            <a:avLst>
              <a:gd name="adj" fmla="val 17647"/>
            </a:avLst>
          </a:prstGeom>
          <a:solidFill>
            <a:srgbClr val="3F949C"/>
          </a:solidFill>
          <a:ln w="1270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 tIns="18000" bIns="18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Work Sans"/>
              </a:rPr>
              <a:t>Flow Head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81999" y="4176000"/>
            <a:ext cx="1584000" cy="612000"/>
          </a:xfrm>
          <a:prstGeom prst="roundRect">
            <a:avLst>
              <a:gd name="adj" fmla="val 17647"/>
            </a:avLst>
          </a:prstGeom>
          <a:solidFill>
            <a:srgbClr val="3F949C"/>
          </a:solidFill>
          <a:ln w="1270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 tIns="18000" bIns="18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Work Sans"/>
              </a:rPr>
              <a:t>Stereo Head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2295000" y="4104000"/>
            <a:ext cx="251999" cy="755999"/>
          </a:xfrm>
          <a:prstGeom prst="line">
            <a:avLst/>
          </a:prstGeom>
          <a:ln w="12700">
            <a:solidFill>
              <a:srgbClr val="C5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4788000" y="4176000"/>
            <a:ext cx="1584000" cy="612000"/>
          </a:xfrm>
          <a:prstGeom prst="roundRect">
            <a:avLst>
              <a:gd name="adj" fmla="val 17647"/>
            </a:avLst>
          </a:prstGeom>
          <a:solidFill>
            <a:srgbClr val="3F949C"/>
          </a:solidFill>
          <a:ln w="1270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 tIns="18000" bIns="18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Work Sans"/>
              </a:rPr>
              <a:t>Camera Pose Head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4401000" y="4104000"/>
            <a:ext cx="252000" cy="755999"/>
          </a:xfrm>
          <a:prstGeom prst="line">
            <a:avLst/>
          </a:prstGeom>
          <a:ln w="12700">
            <a:solidFill>
              <a:srgbClr val="C5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893999" y="4176000"/>
            <a:ext cx="1584000" cy="612000"/>
          </a:xfrm>
          <a:prstGeom prst="roundRect">
            <a:avLst>
              <a:gd name="adj" fmla="val 17647"/>
            </a:avLst>
          </a:prstGeom>
          <a:solidFill>
            <a:srgbClr val="3F949C"/>
          </a:solidFill>
          <a:ln w="1270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" rIns="18000" tIns="18000" bIns="1800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Work Sans"/>
              </a:rPr>
              <a:t>Tracking Head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6506999" y="4104000"/>
            <a:ext cx="252000" cy="755999"/>
          </a:xfrm>
          <a:prstGeom prst="line">
            <a:avLst/>
          </a:prstGeom>
          <a:ln w="12700">
            <a:solidFill>
              <a:srgbClr val="C5C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