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592000" y="1602000"/>
            <a:ext cx="1188000" cy="5868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5364000" y="1602000"/>
            <a:ext cx="1188000" cy="5868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92000" y="2847600"/>
            <a:ext cx="1188000" cy="7704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5364000" y="2847600"/>
            <a:ext cx="1188000" cy="770400"/>
          </a:xfrm>
          <a:prstGeom prst="curvedConnector3">
            <a:avLst/>
          </a:prstGeom>
          <a:ln w="22225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780000" y="1828800"/>
            <a:ext cx="1584000" cy="1378800"/>
          </a:xfrm>
          <a:prstGeom prst="rect">
            <a:avLst/>
          </a:prstGeom>
          <a:solidFill>
            <a:srgbClr val="CFEEEA"/>
          </a:solidFill>
          <a:ln w="12700">
            <a:solidFill>
              <a:srgbClr val="8FB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0" y="3279600"/>
            <a:ext cx="1944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sp>
        <p:nvSpPr>
          <p:cNvPr id="8" name="Oval 7"/>
          <p:cNvSpPr/>
          <p:nvPr/>
        </p:nvSpPr>
        <p:spPr>
          <a:xfrm>
            <a:off x="792000" y="702000"/>
            <a:ext cx="1800000" cy="1800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1227600" y="1188000"/>
            <a:ext cx="928800" cy="827999"/>
            <a:chOff x="1227600" y="1188000"/>
            <a:chExt cx="928800" cy="827999"/>
          </a:xfrm>
        </p:grpSpPr>
        <p:cxnSp>
          <p:nvCxnSpPr>
            <p:cNvPr id="10" name="Connector 9"/>
            <p:cNvCxnSpPr/>
            <p:nvPr/>
          </p:nvCxnSpPr>
          <p:spPr>
            <a:xfrm flipV="1">
              <a:off x="1227600" y="1188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V="1">
              <a:off x="1227600" y="1494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1227600" y="1800000"/>
              <a:ext cx="244800" cy="215999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1569600" y="1188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1569600" y="1494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1569600" y="1800000"/>
              <a:ext cx="244800" cy="215999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1911600" y="1188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1911600" y="1494000"/>
              <a:ext cx="244800" cy="216000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1911600" y="1800000"/>
              <a:ext cx="244800" cy="215999"/>
            </a:xfrm>
            <a:prstGeom prst="line">
              <a:avLst/>
            </a:prstGeom>
            <a:ln w="28575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612000" y="360000"/>
            <a:ext cx="2160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050B0"/>
                </a:solidFill>
                <a:latin typeface="Work Sans"/>
              </a:rPr>
              <a:t>Optical flow</a:t>
            </a:r>
          </a:p>
        </p:txBody>
      </p:sp>
      <p:sp>
        <p:nvSpPr>
          <p:cNvPr id="20" name="Oval 19"/>
          <p:cNvSpPr/>
          <p:nvPr/>
        </p:nvSpPr>
        <p:spPr>
          <a:xfrm>
            <a:off x="6552000" y="702000"/>
            <a:ext cx="1800000" cy="1800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6948000" y="1287000"/>
            <a:ext cx="1007999" cy="630000"/>
            <a:chOff x="6948000" y="1287000"/>
            <a:chExt cx="1007999" cy="630000"/>
          </a:xfrm>
        </p:grpSpPr>
        <p:sp>
          <p:nvSpPr>
            <p:cNvPr id="22" name="Rectangle 21"/>
            <p:cNvSpPr/>
            <p:nvPr/>
          </p:nvSpPr>
          <p:spPr>
            <a:xfrm>
              <a:off x="6948000" y="1287000"/>
              <a:ext cx="1007999" cy="630000"/>
            </a:xfrm>
            <a:prstGeom prst="rect">
              <a:avLst/>
            </a:prstGeom>
            <a:solidFill>
              <a:srgbClr val="EBE6FC"/>
            </a:solidFill>
            <a:ln w="25400">
              <a:solidFill>
                <a:srgbClr val="5A3F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7284000" y="1287000"/>
              <a:ext cx="0" cy="63000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620000" y="1287000"/>
              <a:ext cx="0" cy="63000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948000" y="1602000"/>
              <a:ext cx="1007999" cy="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372000" y="360000"/>
            <a:ext cx="2160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5A3FC4"/>
                </a:solidFill>
                <a:latin typeface="Work Sans"/>
              </a:rPr>
              <a:t>Stereo depth</a:t>
            </a:r>
          </a:p>
        </p:txBody>
      </p:sp>
      <p:sp>
        <p:nvSpPr>
          <p:cNvPr id="27" name="Oval 26"/>
          <p:cNvSpPr/>
          <p:nvPr/>
        </p:nvSpPr>
        <p:spPr>
          <a:xfrm>
            <a:off x="792000" y="2718000"/>
            <a:ext cx="1800000" cy="1800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8" name="Group 27"/>
          <p:cNvGrpSpPr/>
          <p:nvPr/>
        </p:nvGrpSpPr>
        <p:grpSpPr>
          <a:xfrm>
            <a:off x="1137600" y="3405600"/>
            <a:ext cx="1058400" cy="478800"/>
            <a:chOff x="1137600" y="3405600"/>
            <a:chExt cx="1058400" cy="478800"/>
          </a:xfrm>
        </p:grpSpPr>
        <p:sp>
          <p:nvSpPr>
            <p:cNvPr id="29" name="Freeform 28"/>
            <p:cNvSpPr/>
            <p:nvPr/>
          </p:nvSpPr>
          <p:spPr>
            <a:xfrm>
              <a:off x="1188000" y="3456000"/>
              <a:ext cx="1008000" cy="378000"/>
            </a:xfrm>
            <a:custGeom>
              <a:avLst/>
              <a:gdLst/>
              <a:ahLst/>
              <a:cxnLst/>
              <a:rect l="l" t="t" r="r" b="b"/>
              <a:pathLst>
                <a:path w="1008000" h="378000">
                  <a:moveTo>
                    <a:pt x="0" y="252000"/>
                  </a:moveTo>
                  <a:lnTo>
                    <a:pt x="234000" y="378000"/>
                  </a:lnTo>
                  <a:lnTo>
                    <a:pt x="486000" y="270000"/>
                  </a:lnTo>
                  <a:lnTo>
                    <a:pt x="702000" y="54000"/>
                  </a:lnTo>
                  <a:lnTo>
                    <a:pt x="864000" y="0"/>
                  </a:lnTo>
                  <a:lnTo>
                    <a:pt x="1008000" y="90000"/>
                  </a:lnTo>
                </a:path>
              </a:pathLst>
            </a:custGeom>
            <a:noFill/>
            <a:ln w="31750">
              <a:solidFill>
                <a:srgbClr val="2A7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137600" y="3657600"/>
              <a:ext cx="100800" cy="1008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371600" y="3783600"/>
              <a:ext cx="100800" cy="1008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623600" y="3675600"/>
              <a:ext cx="100800" cy="1008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839600" y="3459600"/>
              <a:ext cx="100800" cy="1008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2001600" y="3405600"/>
              <a:ext cx="100800" cy="1008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12000" y="4590000"/>
            <a:ext cx="2160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A7A80"/>
                </a:solidFill>
                <a:latin typeface="Work Sans"/>
              </a:rPr>
              <a:t>Tracking</a:t>
            </a:r>
          </a:p>
        </p:txBody>
      </p:sp>
      <p:sp>
        <p:nvSpPr>
          <p:cNvPr id="36" name="Oval 35"/>
          <p:cNvSpPr/>
          <p:nvPr/>
        </p:nvSpPr>
        <p:spPr>
          <a:xfrm>
            <a:off x="6552000" y="2718000"/>
            <a:ext cx="1800000" cy="1800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Group 36"/>
          <p:cNvGrpSpPr/>
          <p:nvPr/>
        </p:nvGrpSpPr>
        <p:grpSpPr>
          <a:xfrm>
            <a:off x="6912000" y="3312000"/>
            <a:ext cx="1062000" cy="648000"/>
            <a:chOff x="6912000" y="3312000"/>
            <a:chExt cx="1062000" cy="648000"/>
          </a:xfrm>
        </p:grpSpPr>
        <p:sp>
          <p:nvSpPr>
            <p:cNvPr id="38" name="Freeform 37"/>
            <p:cNvSpPr/>
            <p:nvPr/>
          </p:nvSpPr>
          <p:spPr>
            <a:xfrm>
              <a:off x="6983999" y="3384000"/>
              <a:ext cx="918001" cy="504000"/>
            </a:xfrm>
            <a:custGeom>
              <a:avLst/>
              <a:gdLst/>
              <a:ahLst/>
              <a:cxnLst/>
              <a:rect l="l" t="t" r="r" b="b"/>
              <a:pathLst>
                <a:path w="918001" h="504000">
                  <a:moveTo>
                    <a:pt x="0" y="504000"/>
                  </a:moveTo>
                  <a:lnTo>
                    <a:pt x="270000" y="180000"/>
                  </a:lnTo>
                  <a:lnTo>
                    <a:pt x="558001" y="360000"/>
                  </a:lnTo>
                  <a:lnTo>
                    <a:pt x="918001" y="0"/>
                  </a:lnTo>
                </a:path>
              </a:pathLst>
            </a:custGeom>
            <a:noFill/>
            <a:ln w="28575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912000" y="3816000"/>
              <a:ext cx="144000" cy="144000"/>
            </a:xfrm>
            <a:prstGeom prst="rect">
              <a:avLst/>
            </a:prstGeom>
            <a:solidFill>
              <a:srgbClr val="FDF3EF"/>
            </a:solidFill>
            <a:ln w="22225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182000" y="3492000"/>
              <a:ext cx="144000" cy="144000"/>
            </a:xfrm>
            <a:prstGeom prst="rect">
              <a:avLst/>
            </a:prstGeom>
            <a:solidFill>
              <a:srgbClr val="FDF3EF"/>
            </a:solidFill>
            <a:ln w="22225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470000" y="3672000"/>
              <a:ext cx="144000" cy="144000"/>
            </a:xfrm>
            <a:prstGeom prst="rect">
              <a:avLst/>
            </a:prstGeom>
            <a:solidFill>
              <a:srgbClr val="FDF3EF"/>
            </a:solidFill>
            <a:ln w="22225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830000" y="3312000"/>
              <a:ext cx="144000" cy="144000"/>
            </a:xfrm>
            <a:prstGeom prst="rect">
              <a:avLst/>
            </a:prstGeom>
            <a:solidFill>
              <a:srgbClr val="FDF3EF"/>
            </a:solidFill>
            <a:ln w="22225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372000" y="4590000"/>
            <a:ext cx="2160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0583C"/>
                </a:solidFill>
                <a:latin typeface="Work Sans"/>
              </a:rPr>
              <a:t>Camera pose</a:t>
            </a:r>
          </a:p>
        </p:txBody>
      </p:sp>
      <p:grpSp>
        <p:nvGrpSpPr>
          <p:cNvPr id="44" name="result_flow"/>
          <p:cNvGrpSpPr/>
          <p:nvPr/>
        </p:nvGrpSpPr>
        <p:grpSpPr>
          <a:xfrm>
            <a:off x="792000" y="702000"/>
            <a:ext cx="1800000" cy="1800000"/>
            <a:chOff x="792000" y="702000"/>
            <a:chExt cx="1800000" cy="1800000"/>
          </a:xfrm>
        </p:grpSpPr>
        <p:pic>
          <p:nvPicPr>
            <p:cNvPr id="45" name="Picture 44" descr="flow_split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000" y="702000"/>
              <a:ext cx="1800000" cy="1800000"/>
            </a:xfrm>
            <a:prstGeom prst="ellipse">
              <a:avLst/>
            </a:prstGeom>
          </p:spPr>
        </p:pic>
        <p:sp>
          <p:nvSpPr>
            <p:cNvPr id="46" name="Oval 45"/>
            <p:cNvSpPr/>
            <p:nvPr/>
          </p:nvSpPr>
          <p:spPr>
            <a:xfrm>
              <a:off x="792000" y="702000"/>
              <a:ext cx="1800000" cy="1800000"/>
            </a:xfrm>
            <a:prstGeom prst="ellipse">
              <a:avLst/>
            </a:prstGeom>
            <a:noFill/>
            <a:ln w="44450">
              <a:solidFill>
                <a:srgbClr val="2050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result_stereo"/>
          <p:cNvGrpSpPr/>
          <p:nvPr/>
        </p:nvGrpSpPr>
        <p:grpSpPr>
          <a:xfrm>
            <a:off x="6552000" y="702000"/>
            <a:ext cx="1800000" cy="1800000"/>
            <a:chOff x="6552000" y="702000"/>
            <a:chExt cx="1800000" cy="1800000"/>
          </a:xfrm>
        </p:grpSpPr>
        <p:pic>
          <p:nvPicPr>
            <p:cNvPr id="48" name="Picture 47" descr="stereo_split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2000" y="702000"/>
              <a:ext cx="1800000" cy="1800000"/>
            </a:xfrm>
            <a:prstGeom prst="ellipse">
              <a:avLst/>
            </a:prstGeom>
          </p:spPr>
        </p:pic>
        <p:sp>
          <p:nvSpPr>
            <p:cNvPr id="49" name="Oval 48"/>
            <p:cNvSpPr/>
            <p:nvPr/>
          </p:nvSpPr>
          <p:spPr>
            <a:xfrm>
              <a:off x="6552000" y="702000"/>
              <a:ext cx="1800000" cy="1800000"/>
            </a:xfrm>
            <a:prstGeom prst="ellipse">
              <a:avLst/>
            </a:prstGeom>
            <a:noFill/>
            <a:ln w="44450">
              <a:solidFill>
                <a:srgbClr val="5A3F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result_track"/>
          <p:cNvGrpSpPr/>
          <p:nvPr/>
        </p:nvGrpSpPr>
        <p:grpSpPr>
          <a:xfrm>
            <a:off x="792000" y="2718000"/>
            <a:ext cx="1800000" cy="1800000"/>
            <a:chOff x="792000" y="2718000"/>
            <a:chExt cx="1800000" cy="1800000"/>
          </a:xfrm>
        </p:grpSpPr>
        <p:pic>
          <p:nvPicPr>
            <p:cNvPr id="51" name="Picture 50" descr="track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000" y="2718000"/>
              <a:ext cx="1800000" cy="1800000"/>
            </a:xfrm>
            <a:prstGeom prst="ellipse">
              <a:avLst/>
            </a:prstGeom>
          </p:spPr>
        </p:pic>
        <p:sp>
          <p:nvSpPr>
            <p:cNvPr id="52" name="Oval 51"/>
            <p:cNvSpPr/>
            <p:nvPr/>
          </p:nvSpPr>
          <p:spPr>
            <a:xfrm>
              <a:off x="792000" y="2718000"/>
              <a:ext cx="1800000" cy="1800000"/>
            </a:xfrm>
            <a:prstGeom prst="ellipse">
              <a:avLst/>
            </a:prstGeom>
            <a:noFill/>
            <a:ln w="44450">
              <a:solidFill>
                <a:srgbClr val="2A7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" name="result_pose"/>
          <p:cNvGrpSpPr/>
          <p:nvPr/>
        </p:nvGrpSpPr>
        <p:grpSpPr>
          <a:xfrm>
            <a:off x="6552000" y="2718000"/>
            <a:ext cx="1800000" cy="1800000"/>
            <a:chOff x="6552000" y="2718000"/>
            <a:chExt cx="1800000" cy="1800000"/>
          </a:xfrm>
        </p:grpSpPr>
        <p:pic>
          <p:nvPicPr>
            <p:cNvPr id="54" name="Picture 53" descr="pose2.gi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2000" y="2718000"/>
              <a:ext cx="1800000" cy="1800000"/>
            </a:xfrm>
            <a:prstGeom prst="ellipse">
              <a:avLst/>
            </a:prstGeom>
          </p:spPr>
        </p:pic>
        <p:sp>
          <p:nvSpPr>
            <p:cNvPr id="55" name="Oval 54"/>
            <p:cNvSpPr/>
            <p:nvPr/>
          </p:nvSpPr>
          <p:spPr>
            <a:xfrm>
              <a:off x="6552000" y="2718000"/>
              <a:ext cx="1800000" cy="1800000"/>
            </a:xfrm>
            <a:prstGeom prst="ellipse">
              <a:avLst/>
            </a:prstGeom>
            <a:noFill/>
            <a:ln w="4445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