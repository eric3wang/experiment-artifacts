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376000" y="1494000"/>
            <a:ext cx="1080000" cy="576000"/>
          </a:xfrm>
          <a:prstGeom prst="curvedConnector3">
            <a:avLst/>
          </a:prstGeom>
          <a:ln w="25400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5688000" y="1494000"/>
            <a:ext cx="1079999" cy="576000"/>
          </a:xfrm>
          <a:prstGeom prst="curvedConnector3">
            <a:avLst/>
          </a:prstGeom>
          <a:ln w="25400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76000" y="3078000"/>
            <a:ext cx="1080000" cy="576000"/>
          </a:xfrm>
          <a:prstGeom prst="curvedConnector3">
            <a:avLst/>
          </a:prstGeom>
          <a:ln w="25400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5688000" y="3078000"/>
            <a:ext cx="1079999" cy="576000"/>
          </a:xfrm>
          <a:prstGeom prst="curvedConnector3">
            <a:avLst/>
          </a:prstGeom>
          <a:ln w="25400">
            <a:solidFill>
              <a:srgbClr val="4A5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456000" y="1602000"/>
            <a:ext cx="2232000" cy="1944000"/>
          </a:xfrm>
          <a:prstGeom prst="rect">
            <a:avLst/>
          </a:prstGeom>
          <a:solidFill>
            <a:srgbClr val="CFEEEA"/>
          </a:solidFill>
          <a:ln w="12700">
            <a:solidFill>
              <a:srgbClr val="8FB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6000" y="3636000"/>
            <a:ext cx="2592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F2433"/>
                </a:solidFill>
                <a:latin typeface="Work Sans"/>
              </a:rPr>
              <a:t>Latent attention</a:t>
            </a:r>
          </a:p>
        </p:txBody>
      </p:sp>
      <p:sp>
        <p:nvSpPr>
          <p:cNvPr id="8" name="Oval 7"/>
          <p:cNvSpPr/>
          <p:nvPr/>
        </p:nvSpPr>
        <p:spPr>
          <a:xfrm>
            <a:off x="323999" y="468000"/>
            <a:ext cx="2052000" cy="2052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820584" y="1022040"/>
            <a:ext cx="1058832" cy="943920"/>
            <a:chOff x="820584" y="1022040"/>
            <a:chExt cx="1058832" cy="943920"/>
          </a:xfrm>
        </p:grpSpPr>
        <p:cxnSp>
          <p:nvCxnSpPr>
            <p:cNvPr id="10" name="Connector 9"/>
            <p:cNvCxnSpPr/>
            <p:nvPr/>
          </p:nvCxnSpPr>
          <p:spPr>
            <a:xfrm flipV="1">
              <a:off x="820584" y="102204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V="1">
              <a:off x="820584" y="137088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820584" y="171972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V="1">
              <a:off x="1210464" y="102204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1210464" y="137088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V="1">
              <a:off x="1210464" y="171972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1600344" y="102204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V="1">
              <a:off x="1600344" y="137088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1600344" y="1719720"/>
              <a:ext cx="279072" cy="246240"/>
            </a:xfrm>
            <a:prstGeom prst="line">
              <a:avLst/>
            </a:prstGeom>
            <a:ln w="31750">
              <a:solidFill>
                <a:srgbClr val="2050B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90000" y="126000"/>
            <a:ext cx="2520000" cy="30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050B0"/>
                </a:solidFill>
                <a:latin typeface="Work Sans"/>
              </a:rPr>
              <a:t>Optical flow</a:t>
            </a:r>
          </a:p>
        </p:txBody>
      </p:sp>
      <p:sp>
        <p:nvSpPr>
          <p:cNvPr id="20" name="Oval 19"/>
          <p:cNvSpPr/>
          <p:nvPr/>
        </p:nvSpPr>
        <p:spPr>
          <a:xfrm>
            <a:off x="6767999" y="468000"/>
            <a:ext cx="2052000" cy="2052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" name="Group 20"/>
          <p:cNvGrpSpPr/>
          <p:nvPr/>
        </p:nvGrpSpPr>
        <p:grpSpPr>
          <a:xfrm>
            <a:off x="7219439" y="1134900"/>
            <a:ext cx="1149120" cy="718200"/>
            <a:chOff x="7219439" y="1134900"/>
            <a:chExt cx="1149120" cy="718200"/>
          </a:xfrm>
        </p:grpSpPr>
        <p:sp>
          <p:nvSpPr>
            <p:cNvPr id="22" name="Rectangle 21"/>
            <p:cNvSpPr/>
            <p:nvPr/>
          </p:nvSpPr>
          <p:spPr>
            <a:xfrm>
              <a:off x="7219439" y="1134900"/>
              <a:ext cx="1149120" cy="718200"/>
            </a:xfrm>
            <a:prstGeom prst="rect">
              <a:avLst/>
            </a:prstGeom>
            <a:solidFill>
              <a:srgbClr val="EBE6FC"/>
            </a:solidFill>
            <a:ln w="25400">
              <a:solidFill>
                <a:srgbClr val="5A3F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7602479" y="1134900"/>
              <a:ext cx="0" cy="71820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985519" y="1134900"/>
              <a:ext cx="0" cy="71820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7219439" y="1494000"/>
              <a:ext cx="1149120" cy="0"/>
            </a:xfrm>
            <a:prstGeom prst="line">
              <a:avLst/>
            </a:prstGeom>
            <a:ln w="25400">
              <a:solidFill>
                <a:srgbClr val="5A3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6533999" y="126000"/>
            <a:ext cx="2520000" cy="30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5A3FC4"/>
                </a:solidFill>
                <a:latin typeface="Work Sans"/>
              </a:rPr>
              <a:t>Stereo depth</a:t>
            </a:r>
          </a:p>
        </p:txBody>
      </p:sp>
      <p:sp>
        <p:nvSpPr>
          <p:cNvPr id="27" name="Oval 26"/>
          <p:cNvSpPr/>
          <p:nvPr/>
        </p:nvSpPr>
        <p:spPr>
          <a:xfrm>
            <a:off x="323999" y="2628000"/>
            <a:ext cx="2052000" cy="2052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8" name="Group 27"/>
          <p:cNvGrpSpPr/>
          <p:nvPr/>
        </p:nvGrpSpPr>
        <p:grpSpPr>
          <a:xfrm>
            <a:off x="717840" y="3411720"/>
            <a:ext cx="1206720" cy="546120"/>
            <a:chOff x="717840" y="3411720"/>
            <a:chExt cx="1206720" cy="546120"/>
          </a:xfrm>
        </p:grpSpPr>
        <p:sp>
          <p:nvSpPr>
            <p:cNvPr id="29" name="Freeform 28"/>
            <p:cNvSpPr/>
            <p:nvPr/>
          </p:nvSpPr>
          <p:spPr>
            <a:xfrm>
              <a:off x="775440" y="3469320"/>
              <a:ext cx="1149120" cy="430920"/>
            </a:xfrm>
            <a:custGeom>
              <a:avLst/>
              <a:gdLst/>
              <a:ahLst/>
              <a:cxnLst/>
              <a:rect l="l" t="t" r="r" b="b"/>
              <a:pathLst>
                <a:path w="1149120" h="430920">
                  <a:moveTo>
                    <a:pt x="0" y="287280"/>
                  </a:moveTo>
                  <a:lnTo>
                    <a:pt x="266760" y="430920"/>
                  </a:lnTo>
                  <a:lnTo>
                    <a:pt x="554040" y="307800"/>
                  </a:lnTo>
                  <a:lnTo>
                    <a:pt x="800280" y="61560"/>
                  </a:lnTo>
                  <a:lnTo>
                    <a:pt x="984960" y="0"/>
                  </a:lnTo>
                  <a:lnTo>
                    <a:pt x="1149120" y="102600"/>
                  </a:lnTo>
                </a:path>
              </a:pathLst>
            </a:custGeom>
            <a:noFill/>
            <a:ln w="34925">
              <a:solidFill>
                <a:srgbClr val="2A7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717840" y="3699000"/>
              <a:ext cx="115200" cy="1152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84600" y="3842640"/>
              <a:ext cx="115200" cy="1152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271880" y="3719520"/>
              <a:ext cx="115200" cy="1152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518119" y="3473280"/>
              <a:ext cx="115200" cy="1152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702800" y="3411720"/>
              <a:ext cx="115200" cy="115200"/>
            </a:xfrm>
            <a:prstGeom prst="ellipse">
              <a:avLst/>
            </a:prstGeom>
            <a:solidFill>
              <a:srgbClr val="2A7A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90000" y="4723200"/>
            <a:ext cx="2520000" cy="30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A7A80"/>
                </a:solidFill>
                <a:latin typeface="Work Sans"/>
              </a:rPr>
              <a:t>Tracking</a:t>
            </a:r>
          </a:p>
        </p:txBody>
      </p:sp>
      <p:sp>
        <p:nvSpPr>
          <p:cNvPr id="36" name="Oval 35"/>
          <p:cNvSpPr/>
          <p:nvPr/>
        </p:nvSpPr>
        <p:spPr>
          <a:xfrm>
            <a:off x="6767999" y="2628000"/>
            <a:ext cx="2052000" cy="2052000"/>
          </a:xfrm>
          <a:prstGeom prst="ellipse">
            <a:avLst/>
          </a:prstGeom>
          <a:solidFill>
            <a:srgbClr val="F3F5FB"/>
          </a:solidFill>
          <a:ln w="19050">
            <a:solidFill>
              <a:srgbClr val="4A5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Group 36"/>
          <p:cNvGrpSpPr/>
          <p:nvPr/>
        </p:nvGrpSpPr>
        <p:grpSpPr>
          <a:xfrm>
            <a:off x="7177680" y="3304440"/>
            <a:ext cx="1212120" cy="740160"/>
            <a:chOff x="7177680" y="3304440"/>
            <a:chExt cx="1212120" cy="740160"/>
          </a:xfrm>
        </p:grpSpPr>
        <p:sp>
          <p:nvSpPr>
            <p:cNvPr id="38" name="Freeform 37"/>
            <p:cNvSpPr/>
            <p:nvPr/>
          </p:nvSpPr>
          <p:spPr>
            <a:xfrm>
              <a:off x="7260480" y="3387240"/>
              <a:ext cx="1046520" cy="574560"/>
            </a:xfrm>
            <a:custGeom>
              <a:avLst/>
              <a:gdLst/>
              <a:ahLst/>
              <a:cxnLst/>
              <a:rect l="l" t="t" r="r" b="b"/>
              <a:pathLst>
                <a:path w="1046520" h="574560">
                  <a:moveTo>
                    <a:pt x="0" y="574560"/>
                  </a:moveTo>
                  <a:lnTo>
                    <a:pt x="307800" y="205200"/>
                  </a:lnTo>
                  <a:lnTo>
                    <a:pt x="636120" y="410400"/>
                  </a:lnTo>
                  <a:lnTo>
                    <a:pt x="1046520" y="0"/>
                  </a:lnTo>
                </a:path>
              </a:pathLst>
            </a:custGeom>
            <a:noFill/>
            <a:ln w="3175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177680" y="3879000"/>
              <a:ext cx="165600" cy="165600"/>
            </a:xfrm>
            <a:prstGeom prst="rect">
              <a:avLst/>
            </a:prstGeom>
            <a:solidFill>
              <a:srgbClr val="FDF3EF"/>
            </a:solidFill>
            <a:ln w="2540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485480" y="3509640"/>
              <a:ext cx="165600" cy="165600"/>
            </a:xfrm>
            <a:prstGeom prst="rect">
              <a:avLst/>
            </a:prstGeom>
            <a:solidFill>
              <a:srgbClr val="FDF3EF"/>
            </a:solidFill>
            <a:ln w="2540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813799" y="3714839"/>
              <a:ext cx="165600" cy="165600"/>
            </a:xfrm>
            <a:prstGeom prst="rect">
              <a:avLst/>
            </a:prstGeom>
            <a:solidFill>
              <a:srgbClr val="FDF3EF"/>
            </a:solidFill>
            <a:ln w="2540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224200" y="3304440"/>
              <a:ext cx="165600" cy="165600"/>
            </a:xfrm>
            <a:prstGeom prst="rect">
              <a:avLst/>
            </a:prstGeom>
            <a:solidFill>
              <a:srgbClr val="FDF3EF"/>
            </a:solidFill>
            <a:ln w="2540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533999" y="4723200"/>
            <a:ext cx="2520000" cy="30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0583C"/>
                </a:solidFill>
                <a:latin typeface="Work Sans"/>
              </a:rPr>
              <a:t>Camera pose</a:t>
            </a:r>
          </a:p>
        </p:txBody>
      </p:sp>
      <p:grpSp>
        <p:nvGrpSpPr>
          <p:cNvPr id="44" name="result_flow"/>
          <p:cNvGrpSpPr/>
          <p:nvPr/>
        </p:nvGrpSpPr>
        <p:grpSpPr>
          <a:xfrm>
            <a:off x="323999" y="468000"/>
            <a:ext cx="2052000" cy="2052000"/>
            <a:chOff x="323999" y="468000"/>
            <a:chExt cx="2052000" cy="2052000"/>
          </a:xfrm>
        </p:grpSpPr>
        <p:pic>
          <p:nvPicPr>
            <p:cNvPr id="45" name="Picture 44" descr="flow_split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999" y="468000"/>
              <a:ext cx="2052000" cy="2052000"/>
            </a:xfrm>
            <a:prstGeom prst="ellipse">
              <a:avLst/>
            </a:prstGeom>
          </p:spPr>
        </p:pic>
        <p:sp>
          <p:nvSpPr>
            <p:cNvPr id="46" name="Oval 45"/>
            <p:cNvSpPr/>
            <p:nvPr/>
          </p:nvSpPr>
          <p:spPr>
            <a:xfrm>
              <a:off x="323999" y="468000"/>
              <a:ext cx="2052000" cy="2052000"/>
            </a:xfrm>
            <a:prstGeom prst="ellipse">
              <a:avLst/>
            </a:prstGeom>
            <a:noFill/>
            <a:ln w="50800">
              <a:solidFill>
                <a:srgbClr val="2050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result_stereo"/>
          <p:cNvGrpSpPr/>
          <p:nvPr/>
        </p:nvGrpSpPr>
        <p:grpSpPr>
          <a:xfrm>
            <a:off x="6767999" y="468000"/>
            <a:ext cx="2052000" cy="2052000"/>
            <a:chOff x="6767999" y="468000"/>
            <a:chExt cx="2052000" cy="2052000"/>
          </a:xfrm>
        </p:grpSpPr>
        <p:pic>
          <p:nvPicPr>
            <p:cNvPr id="48" name="Picture 47" descr="stereo_split.gi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7999" y="468000"/>
              <a:ext cx="2052000" cy="2052000"/>
            </a:xfrm>
            <a:prstGeom prst="ellipse">
              <a:avLst/>
            </a:prstGeom>
          </p:spPr>
        </p:pic>
        <p:sp>
          <p:nvSpPr>
            <p:cNvPr id="49" name="Oval 48"/>
            <p:cNvSpPr/>
            <p:nvPr/>
          </p:nvSpPr>
          <p:spPr>
            <a:xfrm>
              <a:off x="6767999" y="468000"/>
              <a:ext cx="2052000" cy="2052000"/>
            </a:xfrm>
            <a:prstGeom prst="ellipse">
              <a:avLst/>
            </a:prstGeom>
            <a:noFill/>
            <a:ln w="50800">
              <a:solidFill>
                <a:srgbClr val="5A3F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result_track"/>
          <p:cNvGrpSpPr/>
          <p:nvPr/>
        </p:nvGrpSpPr>
        <p:grpSpPr>
          <a:xfrm>
            <a:off x="323999" y="2628000"/>
            <a:ext cx="2052000" cy="2052000"/>
            <a:chOff x="323999" y="2628000"/>
            <a:chExt cx="2052000" cy="2052000"/>
          </a:xfrm>
        </p:grpSpPr>
        <p:pic>
          <p:nvPicPr>
            <p:cNvPr id="51" name="Picture 50" descr="track.gi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999" y="2628000"/>
              <a:ext cx="2052000" cy="2052000"/>
            </a:xfrm>
            <a:prstGeom prst="ellipse">
              <a:avLst/>
            </a:prstGeom>
          </p:spPr>
        </p:pic>
        <p:sp>
          <p:nvSpPr>
            <p:cNvPr id="52" name="Oval 51"/>
            <p:cNvSpPr/>
            <p:nvPr/>
          </p:nvSpPr>
          <p:spPr>
            <a:xfrm>
              <a:off x="323999" y="2628000"/>
              <a:ext cx="2052000" cy="2052000"/>
            </a:xfrm>
            <a:prstGeom prst="ellipse">
              <a:avLst/>
            </a:prstGeom>
            <a:noFill/>
            <a:ln w="50800">
              <a:solidFill>
                <a:srgbClr val="2A7A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" name="result_pose"/>
          <p:cNvGrpSpPr/>
          <p:nvPr/>
        </p:nvGrpSpPr>
        <p:grpSpPr>
          <a:xfrm>
            <a:off x="6767999" y="2628000"/>
            <a:ext cx="2052000" cy="2052000"/>
            <a:chOff x="6767999" y="2628000"/>
            <a:chExt cx="2052000" cy="2052000"/>
          </a:xfrm>
        </p:grpSpPr>
        <p:pic>
          <p:nvPicPr>
            <p:cNvPr id="54" name="Picture 53" descr="pose2.gi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67999" y="2628000"/>
              <a:ext cx="2052000" cy="2052000"/>
            </a:xfrm>
            <a:prstGeom prst="ellipse">
              <a:avLst/>
            </a:prstGeom>
          </p:spPr>
        </p:pic>
        <p:sp>
          <p:nvSpPr>
            <p:cNvPr id="55" name="Oval 54"/>
            <p:cNvSpPr/>
            <p:nvPr/>
          </p:nvSpPr>
          <p:spPr>
            <a:xfrm>
              <a:off x="6767999" y="2628000"/>
              <a:ext cx="2052000" cy="2052000"/>
            </a:xfrm>
            <a:prstGeom prst="ellipse">
              <a:avLst/>
            </a:prstGeom>
            <a:noFill/>
            <a:ln w="50800">
              <a:solidFill>
                <a:srgbClr val="C058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