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" y="270000"/>
            <a:ext cx="1332000" cy="716400"/>
          </a:xfrm>
          <a:prstGeom prst="rect">
            <a:avLst/>
          </a:prstGeom>
        </p:spPr>
      </p:pic>
      <p:pic>
        <p:nvPicPr>
          <p:cNvPr id="3" name="Picture 2" descr="ph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" y="1242000"/>
            <a:ext cx="1332000" cy="71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999" y="520200"/>
            <a:ext cx="612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1F2433"/>
                </a:solidFill>
                <a:latin typeface="Work Sans"/>
              </a:rPr>
              <a:t>Image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999" y="1492200"/>
            <a:ext cx="612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1F2433"/>
                </a:solidFill>
                <a:latin typeface="Work Sans"/>
              </a:rPr>
              <a:t>Image 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5999" y="628200"/>
            <a:ext cx="216000" cy="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015999" y="1600200"/>
            <a:ext cx="216000" cy="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31999" y="628200"/>
            <a:ext cx="0" cy="97200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31999" y="1114200"/>
            <a:ext cx="144001" cy="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76000" y="700200"/>
            <a:ext cx="1080000" cy="827999"/>
          </a:xfrm>
          <a:prstGeom prst="roundRect">
            <a:avLst>
              <a:gd name="adj" fmla="val 12000"/>
            </a:avLst>
          </a:prstGeom>
          <a:solidFill>
            <a:srgbClr val="E3F2F1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3F949C"/>
                </a:solidFill>
                <a:latin typeface="Work Sans"/>
              </a:rPr>
              <a:t>IDM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6000" y="1571400"/>
            <a:ext cx="1440000" cy="19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5B6270"/>
                </a:solidFill>
                <a:latin typeface="Work Sans"/>
              </a:rPr>
              <a:t>Inverse dynamics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56000" y="1114200"/>
            <a:ext cx="205200" cy="0"/>
          </a:xfrm>
          <a:prstGeom prst="line">
            <a:avLst/>
          </a:prstGeom>
          <a:ln w="25400">
            <a:solidFill>
              <a:srgbClr val="7B4F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71999" y="1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71999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71999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1999" y="1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71999" y="16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72000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72000" y="16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2000" y="16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72000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1999" y="3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71999" y="3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71999" y="3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1999" y="3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71999" y="3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72000" y="38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72000" y="3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72000" y="38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72000" y="38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1999" y="6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71999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71999" y="6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1999" y="6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71999" y="6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72000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2000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72000" y="6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272000" y="6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71999" y="8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71999" y="83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72000" y="83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72000" y="8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72000" y="8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72000" y="8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71999" y="106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71999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71999" y="1062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71999" y="10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71999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72000" y="10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72000" y="1062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72000" y="106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72000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71999" y="12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71999" y="12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071999" y="12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71999" y="128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471999" y="12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672000" y="12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72000" y="128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72000" y="12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72000" y="128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71999" y="15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71999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71999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71999" y="15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71999" y="15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672000" y="15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72000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072000" y="151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272000" y="151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671999" y="17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871999" y="17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071999" y="17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71999" y="17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471999" y="17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672000" y="173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72000" y="17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072000" y="17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272000" y="173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598000" y="936000"/>
            <a:ext cx="1800000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1F2433"/>
                </a:solidFill>
                <a:latin typeface="Work Sans"/>
              </a:rPr>
              <a:t>Latent attention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572000" y="1962000"/>
            <a:ext cx="0" cy="306000"/>
          </a:xfrm>
          <a:prstGeom prst="line">
            <a:avLst/>
          </a:prstGeom>
          <a:ln w="22225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350000" y="2268000"/>
            <a:ext cx="6425999" cy="0"/>
          </a:xfrm>
          <a:prstGeom prst="line">
            <a:avLst/>
          </a:prstGeom>
          <a:ln w="22225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350000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42000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0000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Flow Head</a:t>
            </a:r>
          </a:p>
        </p:txBody>
      </p:sp>
      <p:pic>
        <p:nvPicPr>
          <p:cNvPr id="91" name="Picture 90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00" y="2790000"/>
            <a:ext cx="1800000" cy="180000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413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(Δx, Δy) per pixel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491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2484000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91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Camera Pose Head</a:t>
            </a:r>
          </a:p>
        </p:txBody>
      </p:sp>
      <p:pic>
        <p:nvPicPr>
          <p:cNvPr id="96" name="Picture 95" descr="p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1999" y="2790000"/>
            <a:ext cx="1800000" cy="18000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556000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(R, t) per frame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633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625999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33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2D Tracking Head</a:t>
            </a:r>
          </a:p>
        </p:txBody>
      </p:sp>
      <p:pic>
        <p:nvPicPr>
          <p:cNvPr id="101" name="Picture 100" descr="track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999" y="2790000"/>
            <a:ext cx="1800000" cy="18000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4697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(x, y, vis) per point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7775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6767999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875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3D Tracking Head</a:t>
            </a:r>
          </a:p>
        </p:txBody>
      </p:sp>
      <p:pic>
        <p:nvPicPr>
          <p:cNvPr id="106" name="Picture 105" descr="ph_s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5999" y="2790000"/>
            <a:ext cx="1800000" cy="18000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6839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(X, Y, Z, vis) per 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" y="270000"/>
            <a:ext cx="1332000" cy="716400"/>
          </a:xfrm>
          <a:prstGeom prst="rect">
            <a:avLst/>
          </a:prstGeom>
        </p:spPr>
      </p:pic>
      <p:pic>
        <p:nvPicPr>
          <p:cNvPr id="3" name="Picture 2" descr="ph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" y="1242000"/>
            <a:ext cx="1332000" cy="71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999" y="520200"/>
            <a:ext cx="612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1F2433"/>
                </a:solidFill>
                <a:latin typeface="Work Sans"/>
              </a:rPr>
              <a:t>Image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999" y="1492200"/>
            <a:ext cx="612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1F2433"/>
                </a:solidFill>
                <a:latin typeface="Work Sans"/>
              </a:rPr>
              <a:t>Image 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5999" y="628200"/>
            <a:ext cx="216000" cy="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015999" y="1600200"/>
            <a:ext cx="216000" cy="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31999" y="628200"/>
            <a:ext cx="0" cy="97200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31999" y="1114200"/>
            <a:ext cx="144001" cy="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76000" y="700200"/>
            <a:ext cx="1080000" cy="827999"/>
          </a:xfrm>
          <a:prstGeom prst="roundRect">
            <a:avLst>
              <a:gd name="adj" fmla="val 12000"/>
            </a:avLst>
          </a:prstGeom>
          <a:solidFill>
            <a:srgbClr val="E3F2F1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3F949C"/>
                </a:solidFill>
                <a:latin typeface="Work Sans"/>
              </a:rPr>
              <a:t>IDM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6000" y="1571400"/>
            <a:ext cx="1440000" cy="19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5B6270"/>
                </a:solidFill>
                <a:latin typeface="Work Sans"/>
              </a:rPr>
              <a:t>Inverse dynamics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56000" y="1114200"/>
            <a:ext cx="205200" cy="0"/>
          </a:xfrm>
          <a:prstGeom prst="line">
            <a:avLst/>
          </a:prstGeom>
          <a:ln w="25400">
            <a:solidFill>
              <a:srgbClr val="7B4F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71999" y="1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71999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71999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1999" y="1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71999" y="16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72000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72000" y="16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2000" y="16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72000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1999" y="3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71999" y="3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71999" y="3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1999" y="3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71999" y="3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72000" y="38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72000" y="3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72000" y="38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72000" y="38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1999" y="6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71999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71999" y="6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1999" y="6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71999" y="6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72000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2000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72000" y="6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272000" y="6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71999" y="8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71999" y="83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72000" y="83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72000" y="8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72000" y="8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72000" y="8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71999" y="106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71999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71999" y="1062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71999" y="10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71999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72000" y="10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72000" y="1062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72000" y="106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72000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71999" y="12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71999" y="12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071999" y="12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71999" y="128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471999" y="12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672000" y="12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72000" y="128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72000" y="12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72000" y="128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71999" y="15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71999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71999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71999" y="15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71999" y="15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672000" y="15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72000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072000" y="151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272000" y="151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671999" y="17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871999" y="17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071999" y="17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71999" y="17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471999" y="17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672000" y="173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72000" y="17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072000" y="17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272000" y="173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598000" y="936000"/>
            <a:ext cx="1800000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1F2433"/>
                </a:solidFill>
                <a:latin typeface="Work Sans"/>
              </a:rPr>
              <a:t>Latent attention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572000" y="1962000"/>
            <a:ext cx="0" cy="306000"/>
          </a:xfrm>
          <a:prstGeom prst="line">
            <a:avLst/>
          </a:prstGeom>
          <a:ln w="22225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350000" y="2268000"/>
            <a:ext cx="6425999" cy="0"/>
          </a:xfrm>
          <a:prstGeom prst="line">
            <a:avLst/>
          </a:prstGeom>
          <a:ln w="22225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350000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42000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0000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Flow Head</a:t>
            </a:r>
          </a:p>
        </p:txBody>
      </p:sp>
      <p:pic>
        <p:nvPicPr>
          <p:cNvPr id="91" name="Picture 90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00" y="2790000"/>
            <a:ext cx="1800000" cy="180000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413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(Δx, Δy) per pixel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491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2484000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91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Camera Pose Head</a:t>
            </a:r>
          </a:p>
        </p:txBody>
      </p:sp>
      <p:pic>
        <p:nvPicPr>
          <p:cNvPr id="96" name="Picture 95" descr="p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1999" y="2790000"/>
            <a:ext cx="1800000" cy="18000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556000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(R, t) per frame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633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625999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33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2D Tracking Head</a:t>
            </a:r>
          </a:p>
        </p:txBody>
      </p:sp>
      <p:pic>
        <p:nvPicPr>
          <p:cNvPr id="101" name="Picture 100" descr="track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999" y="2790000"/>
            <a:ext cx="1800000" cy="18000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4697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(x, y, vis) per point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7775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6767999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875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3D Tracking Head</a:t>
            </a:r>
          </a:p>
        </p:txBody>
      </p:sp>
      <p:pic>
        <p:nvPicPr>
          <p:cNvPr id="106" name="Picture 105" descr="ph_s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5999" y="2790000"/>
            <a:ext cx="1800000" cy="18000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6839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(X, Y, Z, vis) per point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429999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571999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13999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" y="270000"/>
            <a:ext cx="1332000" cy="716400"/>
          </a:xfrm>
          <a:prstGeom prst="rect">
            <a:avLst/>
          </a:prstGeom>
        </p:spPr>
      </p:pic>
      <p:pic>
        <p:nvPicPr>
          <p:cNvPr id="3" name="Picture 2" descr="ph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" y="1242000"/>
            <a:ext cx="1332000" cy="71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999" y="520200"/>
            <a:ext cx="612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1F2433"/>
                </a:solidFill>
                <a:latin typeface="Work Sans"/>
              </a:rPr>
              <a:t>Image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999" y="1492200"/>
            <a:ext cx="612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1F2433"/>
                </a:solidFill>
                <a:latin typeface="Work Sans"/>
              </a:rPr>
              <a:t>Image 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5999" y="628200"/>
            <a:ext cx="216000" cy="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015999" y="1600200"/>
            <a:ext cx="216000" cy="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31999" y="628200"/>
            <a:ext cx="0" cy="97200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31999" y="1114200"/>
            <a:ext cx="144001" cy="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76000" y="700200"/>
            <a:ext cx="1080000" cy="827999"/>
          </a:xfrm>
          <a:prstGeom prst="roundRect">
            <a:avLst>
              <a:gd name="adj" fmla="val 12000"/>
            </a:avLst>
          </a:prstGeom>
          <a:solidFill>
            <a:srgbClr val="E3F2F1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3F949C"/>
                </a:solidFill>
                <a:latin typeface="Work Sans"/>
              </a:rPr>
              <a:t>IDM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6000" y="1571400"/>
            <a:ext cx="1440000" cy="19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5B6270"/>
                </a:solidFill>
                <a:latin typeface="Work Sans"/>
              </a:rPr>
              <a:t>Inverse dynamics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56000" y="1114200"/>
            <a:ext cx="205200" cy="0"/>
          </a:xfrm>
          <a:prstGeom prst="line">
            <a:avLst/>
          </a:prstGeom>
          <a:ln w="25400">
            <a:solidFill>
              <a:srgbClr val="7B4F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71999" y="1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71999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71999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1999" y="1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71999" y="16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72000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72000" y="16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2000" y="16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72000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1999" y="3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71999" y="3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71999" y="3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1999" y="3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71999" y="3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72000" y="38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72000" y="3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72000" y="38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72000" y="38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1999" y="6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71999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71999" y="6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1999" y="6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71999" y="6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72000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2000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72000" y="6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272000" y="6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71999" y="8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71999" y="83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72000" y="83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72000" y="8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72000" y="8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72000" y="8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71999" y="106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71999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71999" y="1062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71999" y="10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71999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72000" y="10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72000" y="1062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72000" y="106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72000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71999" y="12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71999" y="12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071999" y="12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71999" y="128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471999" y="12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672000" y="12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72000" y="128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72000" y="12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72000" y="128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71999" y="15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71999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71999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71999" y="15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71999" y="15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672000" y="15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72000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072000" y="151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272000" y="151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671999" y="17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871999" y="17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071999" y="17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71999" y="17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471999" y="17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672000" y="173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72000" y="17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072000" y="17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272000" y="173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598000" y="936000"/>
            <a:ext cx="1800000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1F2433"/>
                </a:solidFill>
                <a:latin typeface="Work Sans"/>
              </a:rPr>
              <a:t>Latent attention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572000" y="1962000"/>
            <a:ext cx="0" cy="306000"/>
          </a:xfrm>
          <a:prstGeom prst="line">
            <a:avLst/>
          </a:prstGeom>
          <a:ln w="22225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350000" y="2268000"/>
            <a:ext cx="6425999" cy="0"/>
          </a:xfrm>
          <a:prstGeom prst="line">
            <a:avLst/>
          </a:prstGeom>
          <a:ln w="22225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350000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42000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0000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Flow Head</a:t>
            </a:r>
          </a:p>
        </p:txBody>
      </p:sp>
      <p:pic>
        <p:nvPicPr>
          <p:cNvPr id="91" name="Picture 90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00" y="2790000"/>
            <a:ext cx="1800000" cy="180000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413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(Δx, Δy) per pixel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491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2484000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91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Camera Pose Head</a:t>
            </a:r>
          </a:p>
        </p:txBody>
      </p:sp>
      <p:pic>
        <p:nvPicPr>
          <p:cNvPr id="96" name="Picture 95" descr="p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1999" y="2790000"/>
            <a:ext cx="1800000" cy="18000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556000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(R, t) per frame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633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625999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33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2D Tracking Head</a:t>
            </a:r>
          </a:p>
        </p:txBody>
      </p:sp>
      <p:pic>
        <p:nvPicPr>
          <p:cNvPr id="101" name="Picture 100" descr="track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999" y="2790000"/>
            <a:ext cx="1800000" cy="18000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4697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(x, y, vis) per point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7775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6767999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875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3D Tracking Head</a:t>
            </a:r>
          </a:p>
        </p:txBody>
      </p:sp>
      <p:pic>
        <p:nvPicPr>
          <p:cNvPr id="106" name="Picture 105" descr="ph_s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5999" y="2790000"/>
            <a:ext cx="1800000" cy="18000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6839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(X, Y, Z, vis) per point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88000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571999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13999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" y="270000"/>
            <a:ext cx="1332000" cy="716400"/>
          </a:xfrm>
          <a:prstGeom prst="rect">
            <a:avLst/>
          </a:prstGeom>
        </p:spPr>
      </p:pic>
      <p:pic>
        <p:nvPicPr>
          <p:cNvPr id="3" name="Picture 2" descr="ph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" y="1242000"/>
            <a:ext cx="1332000" cy="71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999" y="520200"/>
            <a:ext cx="612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1F2433"/>
                </a:solidFill>
                <a:latin typeface="Work Sans"/>
              </a:rPr>
              <a:t>Image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999" y="1492200"/>
            <a:ext cx="612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1F2433"/>
                </a:solidFill>
                <a:latin typeface="Work Sans"/>
              </a:rPr>
              <a:t>Image 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5999" y="628200"/>
            <a:ext cx="216000" cy="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015999" y="1600200"/>
            <a:ext cx="216000" cy="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31999" y="628200"/>
            <a:ext cx="0" cy="97200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31999" y="1114200"/>
            <a:ext cx="144001" cy="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76000" y="700200"/>
            <a:ext cx="1080000" cy="827999"/>
          </a:xfrm>
          <a:prstGeom prst="roundRect">
            <a:avLst>
              <a:gd name="adj" fmla="val 12000"/>
            </a:avLst>
          </a:prstGeom>
          <a:solidFill>
            <a:srgbClr val="E3F2F1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3F949C"/>
                </a:solidFill>
                <a:latin typeface="Work Sans"/>
              </a:rPr>
              <a:t>IDM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6000" y="1571400"/>
            <a:ext cx="1440000" cy="19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5B6270"/>
                </a:solidFill>
                <a:latin typeface="Work Sans"/>
              </a:rPr>
              <a:t>Inverse dynamics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56000" y="1114200"/>
            <a:ext cx="205200" cy="0"/>
          </a:xfrm>
          <a:prstGeom prst="line">
            <a:avLst/>
          </a:prstGeom>
          <a:ln w="25400">
            <a:solidFill>
              <a:srgbClr val="7B4F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71999" y="1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71999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71999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1999" y="1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71999" y="16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72000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72000" y="16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2000" y="16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72000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1999" y="3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71999" y="3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71999" y="3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1999" y="3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71999" y="3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72000" y="38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72000" y="3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72000" y="38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72000" y="38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1999" y="6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71999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71999" y="6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1999" y="6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71999" y="6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72000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2000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72000" y="6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272000" y="6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71999" y="8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71999" y="83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72000" y="83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72000" y="8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72000" y="8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72000" y="8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71999" y="106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71999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71999" y="1062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71999" y="10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71999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72000" y="10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72000" y="1062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72000" y="106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72000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71999" y="12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71999" y="12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071999" y="12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71999" y="128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471999" y="12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672000" y="12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72000" y="128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72000" y="12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72000" y="128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71999" y="15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71999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71999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71999" y="15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71999" y="15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672000" y="15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72000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072000" y="151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272000" y="151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671999" y="17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871999" y="17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071999" y="17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71999" y="17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471999" y="17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672000" y="173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72000" y="17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072000" y="17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272000" y="173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598000" y="936000"/>
            <a:ext cx="1800000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1F2433"/>
                </a:solidFill>
                <a:latin typeface="Work Sans"/>
              </a:rPr>
              <a:t>Latent attention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572000" y="1962000"/>
            <a:ext cx="0" cy="306000"/>
          </a:xfrm>
          <a:prstGeom prst="line">
            <a:avLst/>
          </a:prstGeom>
          <a:ln w="22225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350000" y="2268000"/>
            <a:ext cx="6425999" cy="0"/>
          </a:xfrm>
          <a:prstGeom prst="line">
            <a:avLst/>
          </a:prstGeom>
          <a:ln w="22225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350000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42000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0000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Flow Head</a:t>
            </a:r>
          </a:p>
        </p:txBody>
      </p:sp>
      <p:pic>
        <p:nvPicPr>
          <p:cNvPr id="91" name="Picture 90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00" y="2790000"/>
            <a:ext cx="1800000" cy="180000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413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(Δx, Δy) per pixel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491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2484000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91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Camera Pose Head</a:t>
            </a:r>
          </a:p>
        </p:txBody>
      </p:sp>
      <p:pic>
        <p:nvPicPr>
          <p:cNvPr id="96" name="Picture 95" descr="p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1999" y="2790000"/>
            <a:ext cx="1800000" cy="18000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556000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(R, t) per frame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633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625999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33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2D Tracking Head</a:t>
            </a:r>
          </a:p>
        </p:txBody>
      </p:sp>
      <p:pic>
        <p:nvPicPr>
          <p:cNvPr id="101" name="Picture 100" descr="track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999" y="2790000"/>
            <a:ext cx="1800000" cy="18000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4697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(x, y, vis) per point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7775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6767999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875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3D Tracking Head</a:t>
            </a:r>
          </a:p>
        </p:txBody>
      </p:sp>
      <p:pic>
        <p:nvPicPr>
          <p:cNvPr id="106" name="Picture 105" descr="ph_s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5999" y="2790000"/>
            <a:ext cx="1800000" cy="18000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6839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(X, Y, Z, vis) per point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88000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429999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13999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" y="270000"/>
            <a:ext cx="1332000" cy="716400"/>
          </a:xfrm>
          <a:prstGeom prst="rect">
            <a:avLst/>
          </a:prstGeom>
        </p:spPr>
      </p:pic>
      <p:pic>
        <p:nvPicPr>
          <p:cNvPr id="3" name="Picture 2" descr="ph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00" y="1242000"/>
            <a:ext cx="1332000" cy="71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999" y="520200"/>
            <a:ext cx="612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1F2433"/>
                </a:solidFill>
                <a:latin typeface="Work Sans"/>
              </a:rPr>
              <a:t>Image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999" y="1492200"/>
            <a:ext cx="612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1F2433"/>
                </a:solidFill>
                <a:latin typeface="Work Sans"/>
              </a:rPr>
              <a:t>Image 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5999" y="628200"/>
            <a:ext cx="216000" cy="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015999" y="1600200"/>
            <a:ext cx="216000" cy="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31999" y="628200"/>
            <a:ext cx="0" cy="972000"/>
          </a:xfrm>
          <a:prstGeom prst="line">
            <a:avLst/>
          </a:prstGeom>
          <a:ln w="19050">
            <a:solidFill>
              <a:srgbClr val="7B82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31999" y="1114200"/>
            <a:ext cx="144001" cy="0"/>
          </a:xfrm>
          <a:prstGeom prst="line">
            <a:avLst/>
          </a:prstGeom>
          <a:ln w="19050">
            <a:solidFill>
              <a:srgbClr val="7B82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76000" y="700200"/>
            <a:ext cx="1080000" cy="827999"/>
          </a:xfrm>
          <a:prstGeom prst="roundRect">
            <a:avLst>
              <a:gd name="adj" fmla="val 12000"/>
            </a:avLst>
          </a:prstGeom>
          <a:solidFill>
            <a:srgbClr val="E3F2F1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3F949C"/>
                </a:solidFill>
                <a:latin typeface="Work Sans"/>
              </a:rPr>
              <a:t>IDM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6000" y="1571400"/>
            <a:ext cx="1440000" cy="19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5B6270"/>
                </a:solidFill>
                <a:latin typeface="Work Sans"/>
              </a:rPr>
              <a:t>Inverse dynamics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56000" y="1114200"/>
            <a:ext cx="205200" cy="0"/>
          </a:xfrm>
          <a:prstGeom prst="line">
            <a:avLst/>
          </a:prstGeom>
          <a:ln w="25400">
            <a:solidFill>
              <a:srgbClr val="7B4F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71999" y="1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71999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71999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1999" y="1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71999" y="16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72000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72000" y="16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2000" y="16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72000" y="1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1999" y="3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71999" y="3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71999" y="3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1999" y="3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71999" y="3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72000" y="38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72000" y="3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72000" y="38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72000" y="38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1999" y="6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71999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71999" y="6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1999" y="6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71999" y="6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72000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2000" y="6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72000" y="6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272000" y="6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71999" y="8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71999" y="8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71999" y="83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72000" y="83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72000" y="8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72000" y="8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72000" y="8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71999" y="106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71999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71999" y="1062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71999" y="106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71999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72000" y="106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72000" y="1062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72000" y="106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72000" y="106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71999" y="128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71999" y="12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071999" y="128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71999" y="128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471999" y="12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672000" y="1287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72000" y="128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72000" y="128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72000" y="128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71999" y="15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71999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71999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71999" y="1512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71999" y="1512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672000" y="1512000"/>
            <a:ext cx="200000" cy="225000"/>
          </a:xfrm>
          <a:prstGeom prst="rect">
            <a:avLst/>
          </a:prstGeom>
          <a:solidFill>
            <a:srgbClr val="9673D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72000" y="1512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072000" y="1512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272000" y="1512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671999" y="17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871999" y="1737000"/>
            <a:ext cx="200000" cy="225000"/>
          </a:xfrm>
          <a:prstGeom prst="rect">
            <a:avLst/>
          </a:prstGeom>
          <a:solidFill>
            <a:srgbClr val="EFE6FB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071999" y="17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71999" y="17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471999" y="1737000"/>
            <a:ext cx="200000" cy="225000"/>
          </a:xfrm>
          <a:prstGeom prst="rect">
            <a:avLst/>
          </a:prstGeom>
          <a:solidFill>
            <a:srgbClr val="DCCBF6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672000" y="1737000"/>
            <a:ext cx="200000" cy="225000"/>
          </a:xfrm>
          <a:prstGeom prst="rect">
            <a:avLst/>
          </a:prstGeom>
          <a:solidFill>
            <a:srgbClr val="C6AEF0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72000" y="1737000"/>
            <a:ext cx="200000" cy="225000"/>
          </a:xfrm>
          <a:prstGeom prst="rect">
            <a:avLst/>
          </a:prstGeom>
          <a:solidFill>
            <a:srgbClr val="7D58CC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072000" y="1737000"/>
            <a:ext cx="200000" cy="225000"/>
          </a:xfrm>
          <a:prstGeom prst="rect">
            <a:avLst/>
          </a:prstGeom>
          <a:solidFill>
            <a:srgbClr val="AE8FE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272000" y="1737000"/>
            <a:ext cx="200000" cy="225000"/>
          </a:xfrm>
          <a:prstGeom prst="rect">
            <a:avLst/>
          </a:prstGeom>
          <a:solidFill>
            <a:srgbClr val="6A44B8"/>
          </a:solidFill>
          <a:ln w="6350">
            <a:solidFill>
              <a:srgbClr val="5A3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598000" y="936000"/>
            <a:ext cx="1800000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1F2433"/>
                </a:solidFill>
                <a:latin typeface="Work Sans"/>
              </a:rPr>
              <a:t>Latent attention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572000" y="1962000"/>
            <a:ext cx="0" cy="306000"/>
          </a:xfrm>
          <a:prstGeom prst="line">
            <a:avLst/>
          </a:prstGeom>
          <a:ln w="22225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350000" y="2268000"/>
            <a:ext cx="6425999" cy="0"/>
          </a:xfrm>
          <a:prstGeom prst="line">
            <a:avLst/>
          </a:prstGeom>
          <a:ln w="22225">
            <a:solidFill>
              <a:srgbClr val="1F24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350000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42000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0000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Flow Head</a:t>
            </a:r>
          </a:p>
        </p:txBody>
      </p:sp>
      <p:pic>
        <p:nvPicPr>
          <p:cNvPr id="91" name="Picture 90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00" y="2790000"/>
            <a:ext cx="1800000" cy="180000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413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(Δx, Δy) per pixel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491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2484000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91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Camera Pose Head</a:t>
            </a:r>
          </a:p>
        </p:txBody>
      </p:sp>
      <p:pic>
        <p:nvPicPr>
          <p:cNvPr id="96" name="Picture 95" descr="p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1999" y="2790000"/>
            <a:ext cx="1800000" cy="18000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556000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(R, t) per frame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5633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625999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33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2D Tracking Head</a:t>
            </a:r>
          </a:p>
        </p:txBody>
      </p:sp>
      <p:pic>
        <p:nvPicPr>
          <p:cNvPr id="101" name="Picture 100" descr="track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999" y="2790000"/>
            <a:ext cx="1800000" cy="18000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4697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(x, y, vis) per point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7775999" y="2268000"/>
            <a:ext cx="0" cy="154800"/>
          </a:xfrm>
          <a:prstGeom prst="line">
            <a:avLst/>
          </a:prstGeom>
          <a:ln w="22225">
            <a:solidFill>
              <a:srgbClr val="1F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6767999" y="2430000"/>
            <a:ext cx="2015999" cy="259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3F94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875999" y="2484000"/>
            <a:ext cx="1800000" cy="2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F949C"/>
                </a:solidFill>
                <a:latin typeface="Work Sans"/>
              </a:rPr>
              <a:t>3D Tracking Head</a:t>
            </a:r>
          </a:p>
        </p:txBody>
      </p:sp>
      <p:pic>
        <p:nvPicPr>
          <p:cNvPr id="106" name="Picture 105" descr="ph_s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5999" y="2790000"/>
            <a:ext cx="1800000" cy="18000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6839999" y="4662000"/>
            <a:ext cx="1871999" cy="2519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F2433"/>
                </a:solidFill>
                <a:latin typeface="Work Sans"/>
              </a:rPr>
              <a:t>(X, Y, Z, vis) per point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88000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429999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571999" y="2286000"/>
            <a:ext cx="2124000" cy="2808000"/>
          </a:xfrm>
          <a:prstGeom prst="rect">
            <a:avLst/>
          </a:prstGeom>
          <a:solidFill>
            <a:srgbClr val="FFFF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