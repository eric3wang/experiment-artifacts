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4400" y="741600"/>
            <a:ext cx="684000" cy="413999"/>
          </a:xfrm>
          <a:prstGeom prst="roundRect">
            <a:avLst>
              <a:gd name="adj" fmla="val 4347"/>
            </a:avLst>
          </a:prstGeom>
          <a:solidFill>
            <a:srgbClr val="EEF0F3"/>
          </a:solidFill>
          <a:ln w="9525">
            <a:solidFill>
              <a:srgbClr val="C5C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3200" y="802800"/>
            <a:ext cx="684000" cy="413999"/>
          </a:xfrm>
          <a:prstGeom prst="roundRect">
            <a:avLst>
              <a:gd name="adj" fmla="val 4347"/>
            </a:avLst>
          </a:prstGeom>
          <a:solidFill>
            <a:srgbClr val="EEF0F3"/>
          </a:solidFill>
          <a:ln w="9525">
            <a:solidFill>
              <a:srgbClr val="C5C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2000" y="864000"/>
            <a:ext cx="684000" cy="413999"/>
          </a:xfrm>
          <a:prstGeom prst="roundRect">
            <a:avLst>
              <a:gd name="adj" fmla="val 4347"/>
            </a:avLst>
          </a:prstGeom>
          <a:solidFill>
            <a:srgbClr val="EEF0F3"/>
          </a:solidFill>
          <a:ln w="9525">
            <a:solidFill>
              <a:srgbClr val="C5C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386000" y="1053000"/>
            <a:ext cx="324000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728000" y="737999"/>
            <a:ext cx="1475999" cy="630000"/>
          </a:xfrm>
          <a:prstGeom prst="roundRect">
            <a:avLst>
              <a:gd name="adj" fmla="val 14285"/>
            </a:avLst>
          </a:prstGeom>
          <a:solidFill>
            <a:srgbClr val="E3F2F1"/>
          </a:solidFill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700" b="1" i="0">
                <a:solidFill>
                  <a:srgbClr val="3F949C"/>
                </a:solidFill>
                <a:latin typeface="Work Sans"/>
              </a:rPr>
              <a:t>LaGeOM</a:t>
            </a:r>
          </a:p>
          <a:p>
            <a:pPr algn="ctr"/>
            <a:r>
              <a:rPr sz="1000" b="0" i="1">
                <a:solidFill>
                  <a:srgbClr val="6B7385"/>
                </a:solidFill>
                <a:latin typeface="Work Sans"/>
              </a:rPr>
              <a:t>frozen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4000" y="1053000"/>
            <a:ext cx="324000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Left Bracket 7"/>
          <p:cNvSpPr/>
          <p:nvPr/>
        </p:nvSpPr>
        <p:spPr>
          <a:xfrm>
            <a:off x="3581999" y="630000"/>
            <a:ext cx="108000" cy="827999"/>
          </a:xfrm>
          <a:prstGeom prst="leftBracket">
            <a:avLst/>
          </a:prstGeom>
          <a:noFill/>
          <a:ln w="19050">
            <a:solidFill>
              <a:srgbClr val="1F24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" name="Group 8"/>
          <p:cNvGrpSpPr/>
          <p:nvPr/>
        </p:nvGrpSpPr>
        <p:grpSpPr>
          <a:xfrm>
            <a:off x="3884399" y="813600"/>
            <a:ext cx="828001" cy="468000"/>
            <a:chOff x="3884399" y="813600"/>
            <a:chExt cx="828001" cy="468000"/>
          </a:xfrm>
        </p:grpSpPr>
        <p:sp>
          <p:nvSpPr>
            <p:cNvPr id="10" name="Rectangle 9"/>
            <p:cNvSpPr/>
            <p:nvPr/>
          </p:nvSpPr>
          <p:spPr>
            <a:xfrm>
              <a:off x="3884399" y="813600"/>
              <a:ext cx="827999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F949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050000" y="8136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215600" y="8136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4381199" y="8136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4546800" y="8136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3884399" y="969600"/>
              <a:ext cx="828001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884399" y="1125600"/>
              <a:ext cx="828001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3823199" y="874800"/>
            <a:ext cx="828000" cy="468000"/>
            <a:chOff x="3823199" y="874800"/>
            <a:chExt cx="828000" cy="468000"/>
          </a:xfrm>
        </p:grpSpPr>
        <p:sp>
          <p:nvSpPr>
            <p:cNvPr id="18" name="Rectangle 17"/>
            <p:cNvSpPr/>
            <p:nvPr/>
          </p:nvSpPr>
          <p:spPr>
            <a:xfrm>
              <a:off x="3823199" y="874800"/>
              <a:ext cx="827999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F949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3988799" y="8748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154399" y="8748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4320000" y="8748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4485600" y="8748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3823199" y="1030800"/>
              <a:ext cx="828000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3823199" y="1186800"/>
              <a:ext cx="828000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3761999" y="936000"/>
            <a:ext cx="828001" cy="468000"/>
            <a:chOff x="3761999" y="936000"/>
            <a:chExt cx="828001" cy="468000"/>
          </a:xfrm>
        </p:grpSpPr>
        <p:sp>
          <p:nvSpPr>
            <p:cNvPr id="26" name="Rectangle 25"/>
            <p:cNvSpPr/>
            <p:nvPr/>
          </p:nvSpPr>
          <p:spPr>
            <a:xfrm>
              <a:off x="3761999" y="936000"/>
              <a:ext cx="827999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F949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3927600" y="936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4093199" y="936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4258799" y="936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4424400" y="936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3761999" y="1092000"/>
              <a:ext cx="828001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3761999" y="1248000"/>
              <a:ext cx="828001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4770000" y="1062000"/>
            <a:ext cx="14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F2433"/>
                </a:solidFill>
                <a:latin typeface="Work Sans"/>
              </a:rPr>
              <a:t>,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4986000" y="810000"/>
            <a:ext cx="827999" cy="468000"/>
            <a:chOff x="4986000" y="810000"/>
            <a:chExt cx="827999" cy="468000"/>
          </a:xfrm>
        </p:grpSpPr>
        <p:sp>
          <p:nvSpPr>
            <p:cNvPr id="35" name="Rectangle 34"/>
            <p:cNvSpPr/>
            <p:nvPr/>
          </p:nvSpPr>
          <p:spPr>
            <a:xfrm>
              <a:off x="4986000" y="810000"/>
              <a:ext cx="827999" cy="468000"/>
            </a:xfrm>
            <a:prstGeom prst="rect">
              <a:avLst/>
            </a:prstGeom>
            <a:solidFill>
              <a:srgbClr val="E3F2F1"/>
            </a:solidFill>
            <a:ln w="12700">
              <a:solidFill>
                <a:srgbClr val="3F949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5151600" y="810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>
              <a:off x="5317200" y="810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5482800" y="810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5648400" y="810000"/>
              <a:ext cx="0" cy="46800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4986000" y="966000"/>
              <a:ext cx="827999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>
              <a:off x="4986000" y="1122000"/>
              <a:ext cx="827999" cy="0"/>
            </a:xfrm>
            <a:prstGeom prst="line">
              <a:avLst/>
            </a:prstGeom>
            <a:ln w="6350">
              <a:solidFill>
                <a:srgbClr val="3F949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ight Bracket 41"/>
          <p:cNvSpPr/>
          <p:nvPr/>
        </p:nvSpPr>
        <p:spPr>
          <a:xfrm>
            <a:off x="5886000" y="630000"/>
            <a:ext cx="108000" cy="827999"/>
          </a:xfrm>
          <a:prstGeom prst="rightBracket">
            <a:avLst/>
          </a:prstGeom>
          <a:noFill/>
          <a:ln w="19050">
            <a:solidFill>
              <a:srgbClr val="1F24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5993999" y="1044000"/>
            <a:ext cx="252001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246000" y="1044000"/>
            <a:ext cx="0" cy="558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0000" y="1602000"/>
            <a:ext cx="5616000" cy="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30000" y="1602000"/>
            <a:ext cx="0" cy="918000"/>
          </a:xfrm>
          <a:prstGeom prst="line">
            <a:avLst/>
          </a:prstGeom>
          <a:ln w="19050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30000" y="2520000"/>
            <a:ext cx="162000" cy="0"/>
          </a:xfrm>
          <a:prstGeom prst="line">
            <a:avLst/>
          </a:prstGeom>
          <a:ln w="19050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60000" y="1782000"/>
            <a:ext cx="8424000" cy="1422000"/>
          </a:xfrm>
          <a:prstGeom prst="roundRect">
            <a:avLst>
              <a:gd name="adj" fmla="val 15189"/>
            </a:avLst>
          </a:prstGeom>
          <a:noFill/>
          <a:ln w="19050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4000" y="1818000"/>
            <a:ext cx="216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F949C"/>
                </a:solidFill>
                <a:latin typeface="Work Sans"/>
              </a:rPr>
              <a:t>Tracking Head</a:t>
            </a:r>
          </a:p>
        </p:txBody>
      </p:sp>
      <p:grpSp>
        <p:nvGrpSpPr>
          <p:cNvPr id="50" name="Group 49"/>
          <p:cNvGrpSpPr/>
          <p:nvPr/>
        </p:nvGrpSpPr>
        <p:grpSpPr>
          <a:xfrm>
            <a:off x="932400" y="2224800"/>
            <a:ext cx="792000" cy="468000"/>
            <a:chOff x="932400" y="2224800"/>
            <a:chExt cx="792000" cy="468000"/>
          </a:xfrm>
        </p:grpSpPr>
        <p:sp>
          <p:nvSpPr>
            <p:cNvPr id="51" name="Rectangle 50"/>
            <p:cNvSpPr/>
            <p:nvPr/>
          </p:nvSpPr>
          <p:spPr>
            <a:xfrm>
              <a:off x="932400" y="2224800"/>
              <a:ext cx="79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9AA1A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1090800" y="22248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or 52"/>
            <p:cNvCxnSpPr/>
            <p:nvPr/>
          </p:nvCxnSpPr>
          <p:spPr>
            <a:xfrm>
              <a:off x="1249200" y="22248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 53"/>
            <p:cNvCxnSpPr/>
            <p:nvPr/>
          </p:nvCxnSpPr>
          <p:spPr>
            <a:xfrm>
              <a:off x="1407600" y="22248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54"/>
            <p:cNvCxnSpPr/>
            <p:nvPr/>
          </p:nvCxnSpPr>
          <p:spPr>
            <a:xfrm>
              <a:off x="1565999" y="22248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55"/>
            <p:cNvCxnSpPr/>
            <p:nvPr/>
          </p:nvCxnSpPr>
          <p:spPr>
            <a:xfrm>
              <a:off x="932400" y="2380800"/>
              <a:ext cx="792000" cy="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56"/>
            <p:cNvCxnSpPr/>
            <p:nvPr/>
          </p:nvCxnSpPr>
          <p:spPr>
            <a:xfrm>
              <a:off x="932400" y="2536800"/>
              <a:ext cx="792000" cy="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/>
          <p:cNvGrpSpPr/>
          <p:nvPr/>
        </p:nvGrpSpPr>
        <p:grpSpPr>
          <a:xfrm>
            <a:off x="871200" y="2286000"/>
            <a:ext cx="792000" cy="468000"/>
            <a:chOff x="871200" y="2286000"/>
            <a:chExt cx="792000" cy="468000"/>
          </a:xfrm>
        </p:grpSpPr>
        <p:sp>
          <p:nvSpPr>
            <p:cNvPr id="59" name="Rectangle 58"/>
            <p:cNvSpPr/>
            <p:nvPr/>
          </p:nvSpPr>
          <p:spPr>
            <a:xfrm>
              <a:off x="871200" y="2286000"/>
              <a:ext cx="79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9AA1A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0" name="Connector 59"/>
            <p:cNvCxnSpPr/>
            <p:nvPr/>
          </p:nvCxnSpPr>
          <p:spPr>
            <a:xfrm>
              <a:off x="1029600" y="22860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188000" y="22860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>
              <a:off x="1346400" y="22860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>
              <a:off x="1504800" y="22860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>
              <a:off x="871200" y="2442000"/>
              <a:ext cx="792000" cy="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871200" y="2598000"/>
              <a:ext cx="792000" cy="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/>
          <p:cNvGrpSpPr/>
          <p:nvPr/>
        </p:nvGrpSpPr>
        <p:grpSpPr>
          <a:xfrm>
            <a:off x="810000" y="2347200"/>
            <a:ext cx="792000" cy="468000"/>
            <a:chOff x="810000" y="2347200"/>
            <a:chExt cx="792000" cy="468000"/>
          </a:xfrm>
        </p:grpSpPr>
        <p:sp>
          <p:nvSpPr>
            <p:cNvPr id="67" name="Rectangle 66"/>
            <p:cNvSpPr/>
            <p:nvPr/>
          </p:nvSpPr>
          <p:spPr>
            <a:xfrm>
              <a:off x="810000" y="2347200"/>
              <a:ext cx="79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9AA1A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968400" y="23472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1126800" y="23472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285200" y="23472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1443600" y="2347200"/>
              <a:ext cx="0" cy="46800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810000" y="2503200"/>
              <a:ext cx="792000" cy="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810000" y="2659200"/>
              <a:ext cx="792000" cy="0"/>
            </a:xfrm>
            <a:prstGeom prst="line">
              <a:avLst/>
            </a:prstGeom>
            <a:ln w="6350">
              <a:solidFill>
                <a:srgbClr val="9AA1A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Connector 73"/>
          <p:cNvCxnSpPr/>
          <p:nvPr/>
        </p:nvCxnSpPr>
        <p:spPr>
          <a:xfrm>
            <a:off x="1782000" y="2520000"/>
            <a:ext cx="288000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2088000" y="2070000"/>
            <a:ext cx="720000" cy="1044000"/>
          </a:xfrm>
          <a:prstGeom prst="roundRect">
            <a:avLst>
              <a:gd name="adj" fmla="val 2500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SA</a:t>
            </a:r>
          </a:p>
          <a:p>
            <a:pPr algn="ctr"/>
            <a:r>
              <a:rPr sz="1500" b="0" i="0">
                <a:solidFill>
                  <a:srgbClr val="1F2433"/>
                </a:solidFill>
                <a:latin typeface="Work Sans"/>
              </a:rPr>
              <a:t>Block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808000" y="2520000"/>
            <a:ext cx="288000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" name="Group 76"/>
          <p:cNvGrpSpPr/>
          <p:nvPr/>
        </p:nvGrpSpPr>
        <p:grpSpPr>
          <a:xfrm>
            <a:off x="3236400" y="2224800"/>
            <a:ext cx="792000" cy="468000"/>
            <a:chOff x="3236400" y="2224800"/>
            <a:chExt cx="792000" cy="468000"/>
          </a:xfrm>
        </p:grpSpPr>
        <p:sp>
          <p:nvSpPr>
            <p:cNvPr id="78" name="Rectangle 77"/>
            <p:cNvSpPr/>
            <p:nvPr/>
          </p:nvSpPr>
          <p:spPr>
            <a:xfrm>
              <a:off x="3236400" y="2224800"/>
              <a:ext cx="79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5412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394800" y="22248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>
              <a:off x="3553200" y="22248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>
              <a:off x="3711600" y="22248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>
              <a:off x="3870000" y="22248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3236400" y="2380800"/>
              <a:ext cx="792000" cy="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3236400" y="2536800"/>
              <a:ext cx="792000" cy="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3175200" y="2286000"/>
            <a:ext cx="792000" cy="468000"/>
            <a:chOff x="3175200" y="2286000"/>
            <a:chExt cx="792000" cy="468000"/>
          </a:xfrm>
        </p:grpSpPr>
        <p:sp>
          <p:nvSpPr>
            <p:cNvPr id="86" name="Rectangle 85"/>
            <p:cNvSpPr/>
            <p:nvPr/>
          </p:nvSpPr>
          <p:spPr>
            <a:xfrm>
              <a:off x="3175200" y="2286000"/>
              <a:ext cx="79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5412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>
              <a:off x="3333600" y="22860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>
              <a:off x="3492000" y="22860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>
              <a:off x="3650400" y="22860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>
              <a:off x="3808800" y="22860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90"/>
            <p:cNvCxnSpPr/>
            <p:nvPr/>
          </p:nvCxnSpPr>
          <p:spPr>
            <a:xfrm>
              <a:off x="3175200" y="2442000"/>
              <a:ext cx="792000" cy="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91"/>
            <p:cNvCxnSpPr/>
            <p:nvPr/>
          </p:nvCxnSpPr>
          <p:spPr>
            <a:xfrm>
              <a:off x="3175200" y="2598000"/>
              <a:ext cx="792000" cy="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/>
          <p:cNvGrpSpPr/>
          <p:nvPr/>
        </p:nvGrpSpPr>
        <p:grpSpPr>
          <a:xfrm>
            <a:off x="3114000" y="2347200"/>
            <a:ext cx="792000" cy="468000"/>
            <a:chOff x="3114000" y="2347200"/>
            <a:chExt cx="792000" cy="468000"/>
          </a:xfrm>
        </p:grpSpPr>
        <p:sp>
          <p:nvSpPr>
            <p:cNvPr id="94" name="Rectangle 93"/>
            <p:cNvSpPr/>
            <p:nvPr/>
          </p:nvSpPr>
          <p:spPr>
            <a:xfrm>
              <a:off x="3114000" y="2347200"/>
              <a:ext cx="79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5412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3272400" y="23472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>
              <a:off x="3430800" y="23472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3589200" y="23472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>
              <a:off x="3747600" y="2347200"/>
              <a:ext cx="0" cy="46800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3114000" y="2503200"/>
              <a:ext cx="792000" cy="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3114000" y="2659200"/>
              <a:ext cx="792000" cy="0"/>
            </a:xfrm>
            <a:prstGeom prst="line">
              <a:avLst/>
            </a:prstGeom>
            <a:ln w="6350">
              <a:solidFill>
                <a:srgbClr val="B5412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1" name="Connector 100"/>
          <p:cNvCxnSpPr/>
          <p:nvPr/>
        </p:nvCxnSpPr>
        <p:spPr>
          <a:xfrm>
            <a:off x="4086000" y="2520000"/>
            <a:ext cx="288000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4392000" y="2214000"/>
            <a:ext cx="1584000" cy="612000"/>
          </a:xfrm>
          <a:prstGeom prst="roundRect">
            <a:avLst>
              <a:gd name="adj" fmla="val 2941"/>
            </a:avLst>
          </a:prstGeom>
          <a:solidFill>
            <a:srgbClr val="FDF3EA"/>
          </a:solidFill>
          <a:ln w="12700">
            <a:solidFill>
              <a:srgbClr val="C9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tIns="36000" bIns="36000" wrap="square"/>
          <a:lstStyle/>
          <a:p>
            <a:pPr algn="ctr"/>
            <a:r>
              <a:rPr sz="1400" b="0" i="0">
                <a:solidFill>
                  <a:srgbClr val="1F2433"/>
                </a:solidFill>
                <a:latin typeface="Work Sans"/>
              </a:rPr>
              <a:t>Cross-Attention</a:t>
            </a:r>
          </a:p>
          <a:p>
            <a:pPr algn="ctr"/>
            <a:r>
              <a:rPr sz="1400" b="0" i="0">
                <a:solidFill>
                  <a:srgbClr val="1F2433"/>
                </a:solidFill>
                <a:latin typeface="Work Sans"/>
              </a:rPr>
              <a:t>Decoder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92000" y="185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3"/>
                </a:solidFill>
                <a:latin typeface="Work Sans"/>
              </a:rPr>
              <a:t>query  (u, v, t)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184000" y="2070000"/>
            <a:ext cx="0" cy="13680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976000" y="2520000"/>
            <a:ext cx="612000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6660000" y="2358000"/>
            <a:ext cx="2015999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F2433"/>
                </a:solidFill>
                <a:latin typeface="Work Sans"/>
              </a:rPr>
              <a:t>(x, y, vis)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